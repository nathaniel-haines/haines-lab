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79" r:id="rId2"/>
    <p:sldId id="544" r:id="rId3"/>
    <p:sldId id="615" r:id="rId4"/>
    <p:sldId id="589" r:id="rId5"/>
    <p:sldId id="590" r:id="rId6"/>
    <p:sldId id="592" r:id="rId7"/>
    <p:sldId id="604" r:id="rId8"/>
    <p:sldId id="591" r:id="rId9"/>
    <p:sldId id="598" r:id="rId10"/>
    <p:sldId id="595" r:id="rId11"/>
    <p:sldId id="594" r:id="rId12"/>
    <p:sldId id="607" r:id="rId13"/>
    <p:sldId id="600" r:id="rId14"/>
    <p:sldId id="608" r:id="rId15"/>
    <p:sldId id="609" r:id="rId16"/>
    <p:sldId id="610" r:id="rId17"/>
    <p:sldId id="611" r:id="rId18"/>
    <p:sldId id="612" r:id="rId19"/>
    <p:sldId id="613" r:id="rId20"/>
    <p:sldId id="61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smin Vassileva" initials="" lastIdx="16" clrIdx="0"/>
  <p:cmAuthor id="1" name="Woo-Young Ahn" initials="W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8A0F00"/>
    <a:srgbClr val="FFFFFF"/>
    <a:srgbClr val="D5D6D6"/>
    <a:srgbClr val="B88886"/>
    <a:srgbClr val="666665"/>
    <a:srgbClr val="7D1C0E"/>
    <a:srgbClr val="FFC000"/>
    <a:srgbClr val="000000"/>
    <a:srgbClr val="A02521"/>
    <a:srgbClr val="B024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61"/>
    <p:restoredTop sz="88636" autoAdjust="0"/>
  </p:normalViewPr>
  <p:slideViewPr>
    <p:cSldViewPr snapToGrid="0" snapToObjects="1">
      <p:cViewPr varScale="1">
        <p:scale>
          <a:sx n="227" d="100"/>
          <a:sy n="227" d="100"/>
        </p:scale>
        <p:origin x="21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E8C14-582D-2A43-9D74-84AA0197ECF8}" type="datetimeFigureOut">
              <a:rPr lang="en-US" smtClean="0"/>
              <a:t>4/1/21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5D62A-BC6F-A242-BC1F-F05D62410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882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32E2-3CCD-654C-8418-5B247895C236}" type="datetimeFigureOut">
              <a:rPr lang="en-US" smtClean="0"/>
              <a:t>4/1/21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C4523-9022-5842-8B4C-93DB2B1F9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83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1836-1DA9-034C-BC49-859BFA9E3403}" type="datetime1">
              <a:rPr lang="en-US" smtClean="0"/>
              <a:t>4/1/21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4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055F-73F9-A645-A117-EF73DA354635}" type="datetime1">
              <a:rPr lang="en-US" smtClean="0"/>
              <a:t>4/1/21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3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49976-7907-5B4C-9765-1FC0F1D4CC85}" type="datetime1">
              <a:rPr lang="en-US" smtClean="0"/>
              <a:t>4/1/21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2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587A-BC54-8E46-B224-A659FB20DB2B}" type="datetime1">
              <a:rPr lang="en-US" smtClean="0"/>
              <a:t>4/1/21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9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5599-AED5-7541-9CA1-FF0F9DD18692}" type="datetime1">
              <a:rPr lang="en-US" smtClean="0"/>
              <a:t>4/1/21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2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44D69-519E-104D-899B-8340E18D745F}" type="datetime1">
              <a:rPr lang="en-US" smtClean="0"/>
              <a:t>4/1/21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8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92D7B-EF87-CD45-AAA0-B92BEEBD033C}" type="datetime1">
              <a:rPr lang="en-US" smtClean="0"/>
              <a:t>4/1/21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0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583D-8075-7048-9EED-13B3FC4581E8}" type="datetime1">
              <a:rPr lang="en-US" smtClean="0"/>
              <a:t>4/1/21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3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1CE4-F76E-2F4C-A7F8-CCB7A6CF2984}" type="datetime1">
              <a:rPr lang="en-US" smtClean="0"/>
              <a:t>4/1/21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9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42F2-15FE-274A-AD5A-3E18505C84D5}" type="datetime1">
              <a:rPr lang="en-US" smtClean="0"/>
              <a:t>4/1/21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B705-FF4B-C14B-BD49-55BD6E51BE13}" type="datetime1">
              <a:rPr lang="en-US" smtClean="0"/>
              <a:t>4/1/21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BDAE92C1-7B1B-9D4D-8E4A-B1A493D57F9A}" type="datetime1">
              <a:rPr lang="en-US" smtClean="0"/>
              <a:pPr/>
              <a:t>4/1/21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7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png"/><Relationship Id="rId4" Type="http://schemas.openxmlformats.org/officeDocument/2006/relationships/image" Target="../media/image12.emf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2.png"/><Relationship Id="rId7" Type="http://schemas.openxmlformats.org/officeDocument/2006/relationships/image" Target="../media/image18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5.emf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5.png"/><Relationship Id="rId7" Type="http://schemas.openxmlformats.org/officeDocument/2006/relationships/image" Target="../media/image18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image" Target="../media/image26.png"/><Relationship Id="rId5" Type="http://schemas.openxmlformats.org/officeDocument/2006/relationships/image" Target="../media/image15.emf"/><Relationship Id="rId10" Type="http://schemas.openxmlformats.org/officeDocument/2006/relationships/image" Target="../media/image28.png"/><Relationship Id="rId4" Type="http://schemas.openxmlformats.org/officeDocument/2006/relationships/image" Target="../media/image1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15.emf"/><Relationship Id="rId7" Type="http://schemas.openxmlformats.org/officeDocument/2006/relationships/image" Target="../media/image2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8.emf"/><Relationship Id="rId10" Type="http://schemas.openxmlformats.org/officeDocument/2006/relationships/image" Target="../media/image30.tiff"/><Relationship Id="rId4" Type="http://schemas.openxmlformats.org/officeDocument/2006/relationships/image" Target="../media/image12.emf"/><Relationship Id="rId9" Type="http://schemas.openxmlformats.org/officeDocument/2006/relationships/image" Target="../media/image29.tif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5.emf"/><Relationship Id="rId3" Type="http://schemas.openxmlformats.org/officeDocument/2006/relationships/image" Target="../media/image15.emf"/><Relationship Id="rId7" Type="http://schemas.openxmlformats.org/officeDocument/2006/relationships/image" Target="../media/image27.emf"/><Relationship Id="rId12" Type="http://schemas.openxmlformats.org/officeDocument/2006/relationships/image" Target="../media/image34.emf"/><Relationship Id="rId17" Type="http://schemas.openxmlformats.org/officeDocument/2006/relationships/image" Target="../media/image39.tiff"/><Relationship Id="rId2" Type="http://schemas.openxmlformats.org/officeDocument/2006/relationships/image" Target="../media/image1.png"/><Relationship Id="rId16" Type="http://schemas.openxmlformats.org/officeDocument/2006/relationships/image" Target="../media/image38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11" Type="http://schemas.openxmlformats.org/officeDocument/2006/relationships/image" Target="../media/image33.emf"/><Relationship Id="rId5" Type="http://schemas.openxmlformats.org/officeDocument/2006/relationships/image" Target="../media/image18.emf"/><Relationship Id="rId15" Type="http://schemas.openxmlformats.org/officeDocument/2006/relationships/image" Target="../media/image37.png"/><Relationship Id="rId10" Type="http://schemas.openxmlformats.org/officeDocument/2006/relationships/image" Target="../media/image32.emf"/><Relationship Id="rId4" Type="http://schemas.openxmlformats.org/officeDocument/2006/relationships/image" Target="../media/image12.emf"/><Relationship Id="rId9" Type="http://schemas.openxmlformats.org/officeDocument/2006/relationships/image" Target="../media/image31.emf"/><Relationship Id="rId1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9" y="2168373"/>
            <a:ext cx="9305405" cy="1143000"/>
          </a:xfrm>
        </p:spPr>
        <p:txBody>
          <a:bodyPr>
            <a:noAutofit/>
          </a:bodyPr>
          <a:lstStyle/>
          <a:p>
            <a:r>
              <a:rPr lang="en-US" sz="4800" b="1" dirty="0"/>
              <a:t>A Tutorial on Bayesian Data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8131" y="5133439"/>
            <a:ext cx="822773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Presented by Nathaniel Haines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Department of Psychology, The Ohio State University, Columbus, OH</a:t>
            </a:r>
            <a:br>
              <a:rPr lang="en-US" sz="1800" b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49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996AE5D-B5B9-3E4E-989D-37CB768290ED}"/>
              </a:ext>
            </a:extLst>
          </p:cNvPr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D40E8-93F7-ED4C-957E-3896FE91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606"/>
            <a:ext cx="8229600" cy="1143000"/>
          </a:xfrm>
        </p:spPr>
        <p:txBody>
          <a:bodyPr/>
          <a:lstStyle/>
          <a:p>
            <a:r>
              <a:rPr lang="en-US" i="1" dirty="0"/>
              <a:t>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57132-7B99-6745-99F3-CD01B330363C}"/>
              </a:ext>
            </a:extLst>
          </p:cNvPr>
          <p:cNvSpPr txBox="1"/>
          <p:nvPr/>
        </p:nvSpPr>
        <p:spPr>
          <a:xfrm>
            <a:off x="1723568" y="1589244"/>
            <a:ext cx="69632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Conceptual barriers to Bayesian thinking</a:t>
            </a:r>
          </a:p>
          <a:p>
            <a:pPr marL="971550" lvl="1" indent="-514350">
              <a:buFont typeface="+mj-lt"/>
              <a:buAutoNum type="arabicPeriod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Generative thinking”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as the core of Bayesian analysis</a:t>
            </a:r>
          </a:p>
          <a:p>
            <a:pPr marL="971550" lvl="1" indent="-514350">
              <a:buFont typeface="+mj-lt"/>
              <a:buAutoNum type="arabicPeriod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Workflow and example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0C3663A-9865-4F41-9714-6DBC19B13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166254" y="3300781"/>
            <a:ext cx="1927314" cy="16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6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996AE5D-B5B9-3E4E-989D-37CB768290ED}"/>
              </a:ext>
            </a:extLst>
          </p:cNvPr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D40E8-93F7-ED4C-957E-3896FE91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606"/>
            <a:ext cx="8229600" cy="1143000"/>
          </a:xfrm>
        </p:spPr>
        <p:txBody>
          <a:bodyPr/>
          <a:lstStyle/>
          <a:p>
            <a:r>
              <a:rPr lang="en-US" i="1" dirty="0"/>
              <a:t>To Follow Along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0C3663A-9865-4F41-9714-6DBC19B13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166254" y="3300781"/>
            <a:ext cx="1927314" cy="1624510"/>
          </a:xfrm>
          <a:prstGeom prst="rect">
            <a:avLst/>
          </a:prstGeom>
        </p:spPr>
      </p:pic>
      <p:pic>
        <p:nvPicPr>
          <p:cNvPr id="8" name="Picture 7" descr="Qr code&#10;&#10;Description automatically generated">
            <a:extLst>
              <a:ext uri="{FF2B5EF4-FFF2-40B4-BE49-F238E27FC236}">
                <a16:creationId xmlns:a16="http://schemas.microsoft.com/office/drawing/2014/main" id="{4946A474-C297-D845-9538-546843DCC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327" y="1888522"/>
            <a:ext cx="4424976" cy="442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0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Conceptual barriers</a:t>
            </a:r>
            <a:endParaRPr 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35085" cy="487185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“</a:t>
            </a:r>
            <a:r>
              <a:rPr lang="en-US" sz="2800" i="1" dirty="0"/>
              <a:t>Bayesian analysis is just adding priors to  traditional frequentist models</a:t>
            </a:r>
            <a:r>
              <a:rPr lang="en-US" sz="2800" dirty="0"/>
              <a:t>”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“</a:t>
            </a:r>
            <a:r>
              <a:rPr lang="en-US" sz="2800" i="1" dirty="0"/>
              <a:t>Bayesian probability (and prior information) is subjective and inherently biases our statistical inference</a:t>
            </a:r>
            <a:r>
              <a:rPr lang="en-US" sz="2800" dirty="0"/>
              <a:t>”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endParaRPr lang="en-US" sz="2800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249B4CD3-5FD5-BB44-862E-CF61B2C9E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469" y="4639122"/>
            <a:ext cx="6426200" cy="18161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Bent Arrow 10">
            <a:extLst>
              <a:ext uri="{FF2B5EF4-FFF2-40B4-BE49-F238E27FC236}">
                <a16:creationId xmlns:a16="http://schemas.microsoft.com/office/drawing/2014/main" id="{13EAF9FE-F7F3-454C-894E-1DD784724394}"/>
              </a:ext>
            </a:extLst>
          </p:cNvPr>
          <p:cNvSpPr/>
          <p:nvPr/>
        </p:nvSpPr>
        <p:spPr>
          <a:xfrm flipV="1">
            <a:off x="1217330" y="4426143"/>
            <a:ext cx="796593" cy="1307087"/>
          </a:xfrm>
          <a:prstGeom prst="bent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8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What Bayesian Modeling is</a:t>
            </a:r>
            <a:endParaRPr 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35085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Developing a generative model that spans across all variables being used to make a given inference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Generative model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C00000"/>
                </a:solidFill>
              </a:rPr>
              <a:t>a single, or joint, probability distribution that can simulate forward all quantities of interest</a:t>
            </a:r>
            <a:endParaRPr lang="en-US" sz="2800" dirty="0"/>
          </a:p>
          <a:p>
            <a:pPr>
              <a:buFont typeface="Wingdings" pitchFamily="2" charset="2"/>
              <a:buChar char="Ø"/>
            </a:pPr>
            <a:endParaRPr lang="en-US" sz="14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Includes: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Distribution of observed data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Distribution of parameters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All theoretically relevant relationships between observed data and parameters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43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What Bayesian Modeling is</a:t>
            </a:r>
            <a:endParaRPr 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35085" cy="487185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Developing a generative model that spans across all variables being used to make a given inference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Generative model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C00000"/>
                </a:solidFill>
              </a:rPr>
              <a:t>a single, or joint, probability distribution that can simulate forward all quantities of interest</a:t>
            </a:r>
            <a:endParaRPr lang="en-US" sz="2800" dirty="0"/>
          </a:p>
          <a:p>
            <a:pPr>
              <a:buFont typeface="Wingdings" pitchFamily="2" charset="2"/>
              <a:buChar char="Ø"/>
            </a:pPr>
            <a:endParaRPr lang="en-US" sz="14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Importantly…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Our generative model should represent and encode our theoretical knowledge of how quantities of interest are generated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18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The Bayesian Workflow</a:t>
            </a:r>
            <a:endParaRPr 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2636"/>
            <a:ext cx="8108989" cy="529426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General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Specify generative model (i.e. one that can simulate data you plan to analyze)</a:t>
            </a:r>
          </a:p>
          <a:p>
            <a:pPr marL="1314450" lvl="2" indent="-4572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Distribution of data (likelihood)</a:t>
            </a:r>
          </a:p>
          <a:p>
            <a:pPr marL="1314450" lvl="2" indent="-4572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Distribution of parameters (prior)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Prior predictive simulations</a:t>
            </a:r>
          </a:p>
          <a:p>
            <a:pPr marL="1314450" lvl="2" indent="-4572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Determine if model produces data consistent with what you expect</a:t>
            </a:r>
          </a:p>
          <a:p>
            <a:pPr marL="1314450" lvl="2" indent="-4572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If not, back to step 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Condition on data to obtain posteriors (Bayes rule!)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Posterior predictive simulations</a:t>
            </a:r>
          </a:p>
          <a:p>
            <a:pPr marL="1314450" lvl="2" indent="-4572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Determine if model predictions can capture observed data</a:t>
            </a:r>
          </a:p>
          <a:p>
            <a:pPr marL="1314450" lvl="2" indent="-4572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If not, back to step 1</a:t>
            </a:r>
            <a:endParaRPr lang="en-US" sz="2400" dirty="0">
              <a:solidFill>
                <a:srgbClr val="C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41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: Design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74830"/>
            <a:ext cx="4765404" cy="54277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The inference problem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Difference in impulsivity between people with versus without a history of chronic substance use </a:t>
            </a: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The task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Iowa Gambling Task</a:t>
            </a: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The participants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err="1">
                <a:solidFill>
                  <a:srgbClr val="C00000"/>
                </a:solidFill>
              </a:rPr>
              <a:t>Ahn</a:t>
            </a:r>
            <a:r>
              <a:rPr lang="en-US" sz="2400" dirty="0">
                <a:solidFill>
                  <a:srgbClr val="C00000"/>
                </a:solidFill>
              </a:rPr>
              <a:t> et al. (2014)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48 healthy controls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38 with past stimulant use disorder (amphetamine)</a:t>
            </a:r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FB2C5C-1E0F-114D-A207-606B00870F77}"/>
              </a:ext>
            </a:extLst>
          </p:cNvPr>
          <p:cNvGrpSpPr/>
          <p:nvPr/>
        </p:nvGrpSpPr>
        <p:grpSpPr>
          <a:xfrm>
            <a:off x="5376986" y="1889555"/>
            <a:ext cx="3456860" cy="3870627"/>
            <a:chOff x="5440309" y="2832004"/>
            <a:chExt cx="3456860" cy="38706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A666953-CDCE-F64A-BC91-14D62BD8AD66}"/>
                </a:ext>
              </a:extLst>
            </p:cNvPr>
            <p:cNvGrpSpPr/>
            <p:nvPr/>
          </p:nvGrpSpPr>
          <p:grpSpPr>
            <a:xfrm>
              <a:off x="5440309" y="2832004"/>
              <a:ext cx="3456860" cy="3870627"/>
              <a:chOff x="5311283" y="2977858"/>
              <a:chExt cx="3456860" cy="387062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A2AE054-8CFC-AF42-A13E-A6456E09A03A}"/>
                  </a:ext>
                </a:extLst>
              </p:cNvPr>
              <p:cNvGrpSpPr/>
              <p:nvPr/>
            </p:nvGrpSpPr>
            <p:grpSpPr>
              <a:xfrm>
                <a:off x="5311283" y="2977858"/>
                <a:ext cx="3456860" cy="3870627"/>
                <a:chOff x="9237779" y="23645"/>
                <a:chExt cx="5448104" cy="6100211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3C8C03D-FCD0-F04B-AAF5-0109FE6B4CF5}"/>
                    </a:ext>
                  </a:extLst>
                </p:cNvPr>
                <p:cNvSpPr txBox="1"/>
                <p:nvPr/>
              </p:nvSpPr>
              <p:spPr>
                <a:xfrm>
                  <a:off x="10135297" y="23645"/>
                  <a:ext cx="3807754" cy="5820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rPr>
                    <a:t>Net gain per selection</a:t>
                  </a:r>
                </a:p>
              </p:txBody>
            </p: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0B78C951-7DD4-744F-A6EE-A67734A74E6A}"/>
                    </a:ext>
                  </a:extLst>
                </p:cNvPr>
                <p:cNvGrpSpPr/>
                <p:nvPr/>
              </p:nvGrpSpPr>
              <p:grpSpPr>
                <a:xfrm>
                  <a:off x="9237779" y="545619"/>
                  <a:ext cx="5448104" cy="5578237"/>
                  <a:chOff x="9250305" y="566901"/>
                  <a:chExt cx="5448104" cy="5578237"/>
                </a:xfrm>
              </p:grpSpPr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2A96830-2C2A-4346-BAAB-2008B4368260}"/>
                      </a:ext>
                    </a:extLst>
                  </p:cNvPr>
                  <p:cNvSpPr txBox="1"/>
                  <p:nvPr/>
                </p:nvSpPr>
                <p:spPr>
                  <a:xfrm>
                    <a:off x="9250305" y="566903"/>
                    <a:ext cx="2082065" cy="557823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1	  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2 	  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3	  </a:t>
                    </a:r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-50</a:t>
                    </a:r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4 	  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5	  </a:t>
                    </a:r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-200</a:t>
                    </a:r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6 	  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7	  </a:t>
                    </a:r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-100</a:t>
                    </a:r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8	  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9	  </a:t>
                    </a:r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-150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10	  </a:t>
                    </a:r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-250</a:t>
                    </a:r>
                  </a:p>
                  <a:p>
                    <a:endParaRPr lang="en-US" sz="1400" b="1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EV</a:t>
                    </a:r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	  </a:t>
                    </a:r>
                    <a:r>
                      <a:rPr lang="en-US" sz="1400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-250</a:t>
                    </a: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7E4930B-D36E-5746-9D32-5F351587D0CE}"/>
                      </a:ext>
                    </a:extLst>
                  </p:cNvPr>
                  <p:cNvSpPr txBox="1"/>
                  <p:nvPr/>
                </p:nvSpPr>
                <p:spPr>
                  <a:xfrm>
                    <a:off x="11329775" y="566901"/>
                    <a:ext cx="1122878" cy="557823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-1150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+100</a:t>
                    </a: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-250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B01122F5-BDE0-AB47-ACC7-AAC6112474E4}"/>
                      </a:ext>
                    </a:extLst>
                  </p:cNvPr>
                  <p:cNvSpPr txBox="1"/>
                  <p:nvPr/>
                </p:nvSpPr>
                <p:spPr>
                  <a:xfrm>
                    <a:off x="12452653" y="566901"/>
                    <a:ext cx="1122878" cy="557823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-50</a:t>
                    </a: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-50</a:t>
                    </a:r>
                  </a:p>
                  <a:p>
                    <a:endParaRPr lang="en-US" sz="1400" b="1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+250</a:t>
                    </a: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6252DC9-8AE1-D14D-9C9A-67EB8334AF78}"/>
                      </a:ext>
                    </a:extLst>
                  </p:cNvPr>
                  <p:cNvSpPr txBox="1"/>
                  <p:nvPr/>
                </p:nvSpPr>
                <p:spPr>
                  <a:xfrm>
                    <a:off x="13575531" y="566901"/>
                    <a:ext cx="1122878" cy="557823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endParaRPr lang="en-US" sz="1400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</a:p>
                  <a:p>
                    <a:r>
                      <a:rPr lang="en-US" sz="1400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+50</a:t>
                    </a:r>
                    <a:endParaRPr lang="en-US" sz="1400" b="1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b="1" dirty="0"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-200</a:t>
                    </a:r>
                  </a:p>
                  <a:p>
                    <a:endParaRPr lang="en-US" sz="1400" b="1" dirty="0">
                      <a:latin typeface="Arial" panose="020B0604020202020204" pitchFamily="34" charset="0"/>
                      <a:ea typeface="Gill Sans" charset="0"/>
                      <a:cs typeface="Arial" panose="020B0604020202020204" pitchFamily="34" charset="0"/>
                    </a:endParaRPr>
                  </a:p>
                  <a:p>
                    <a:r>
                      <a: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ea typeface="Gill Sans" charset="0"/>
                        <a:cs typeface="Arial" panose="020B0604020202020204" pitchFamily="34" charset="0"/>
                      </a:rPr>
                      <a:t>+250</a:t>
                    </a:r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3915A11C-C5AD-2C4D-8C36-28B309AA760D}"/>
                    </a:ext>
                  </a:extLst>
                </p:cNvPr>
                <p:cNvGrpSpPr/>
                <p:nvPr/>
              </p:nvGrpSpPr>
              <p:grpSpPr>
                <a:xfrm>
                  <a:off x="11331302" y="628434"/>
                  <a:ext cx="825469" cy="1112684"/>
                  <a:chOff x="11138328" y="-714542"/>
                  <a:chExt cx="1488040" cy="2005794"/>
                </a:xfrm>
              </p:grpSpPr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32B8810D-C735-6C4D-81DB-5A888F58E4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69338" y="-696479"/>
                    <a:ext cx="1441095" cy="196966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2D256992-E981-1E47-BC58-4693787EDC8A}"/>
                      </a:ext>
                    </a:extLst>
                  </p:cNvPr>
                  <p:cNvSpPr/>
                  <p:nvPr/>
                </p:nvSpPr>
                <p:spPr>
                  <a:xfrm>
                    <a:off x="11138328" y="-714542"/>
                    <a:ext cx="1488040" cy="2005794"/>
                  </a:xfrm>
                  <a:prstGeom prst="rect">
                    <a:avLst/>
                  </a:prstGeom>
                  <a:solidFill>
                    <a:srgbClr val="FFFFFF">
                      <a:alpha val="69804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C4A82D36-29ED-6C49-A1EF-AD80E530B2E4}"/>
                      </a:ext>
                    </a:extLst>
                  </p:cNvPr>
                  <p:cNvSpPr txBox="1"/>
                  <p:nvPr/>
                </p:nvSpPr>
                <p:spPr>
                  <a:xfrm>
                    <a:off x="11246206" y="-524757"/>
                    <a:ext cx="1367170" cy="16613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200" b="1" dirty="0">
                        <a:latin typeface="Arial" charset="0"/>
                        <a:ea typeface="Arial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ACD82320-F370-3741-92FD-B33059F2A05B}"/>
                    </a:ext>
                  </a:extLst>
                </p:cNvPr>
                <p:cNvGrpSpPr/>
                <p:nvPr/>
              </p:nvGrpSpPr>
              <p:grpSpPr>
                <a:xfrm>
                  <a:off x="10168565" y="628434"/>
                  <a:ext cx="825469" cy="1112684"/>
                  <a:chOff x="11138328" y="-714542"/>
                  <a:chExt cx="1488040" cy="2005794"/>
                </a:xfrm>
              </p:grpSpPr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C56B5348-597D-9E4E-B5E7-D2FC1A077F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69338" y="-696479"/>
                    <a:ext cx="1441095" cy="196966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3AA3F683-656A-AB47-B93A-F2E142636137}"/>
                      </a:ext>
                    </a:extLst>
                  </p:cNvPr>
                  <p:cNvSpPr/>
                  <p:nvPr/>
                </p:nvSpPr>
                <p:spPr>
                  <a:xfrm>
                    <a:off x="11138328" y="-714542"/>
                    <a:ext cx="1488040" cy="2005794"/>
                  </a:xfrm>
                  <a:prstGeom prst="rect">
                    <a:avLst/>
                  </a:prstGeom>
                  <a:solidFill>
                    <a:srgbClr val="FFFFFF">
                      <a:alpha val="69804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C5BB46C-291B-E444-AA38-FBCF00B32985}"/>
                      </a:ext>
                    </a:extLst>
                  </p:cNvPr>
                  <p:cNvSpPr txBox="1"/>
                  <p:nvPr/>
                </p:nvSpPr>
                <p:spPr>
                  <a:xfrm>
                    <a:off x="11246206" y="-524757"/>
                    <a:ext cx="1367170" cy="16613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200" b="1" dirty="0">
                        <a:latin typeface="Arial" charset="0"/>
                        <a:ea typeface="Arial" charset="0"/>
                        <a:cs typeface="Arial" charset="0"/>
                      </a:rPr>
                      <a:t>A</a:t>
                    </a: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078F21EF-7525-2746-A47C-261DB1E4EF01}"/>
                    </a:ext>
                  </a:extLst>
                </p:cNvPr>
                <p:cNvGrpSpPr/>
                <p:nvPr/>
              </p:nvGrpSpPr>
              <p:grpSpPr>
                <a:xfrm>
                  <a:off x="12431941" y="628434"/>
                  <a:ext cx="825470" cy="1112684"/>
                  <a:chOff x="11042699" y="-714542"/>
                  <a:chExt cx="1488041" cy="2005794"/>
                </a:xfrm>
              </p:grpSpPr>
              <p:pic>
                <p:nvPicPr>
                  <p:cNvPr id="17" name="Picture 16">
                    <a:extLst>
                      <a:ext uri="{FF2B5EF4-FFF2-40B4-BE49-F238E27FC236}">
                        <a16:creationId xmlns:a16="http://schemas.microsoft.com/office/drawing/2014/main" id="{A4956559-1360-254F-8D85-B139EEAE62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089647" y="-696479"/>
                    <a:ext cx="1441093" cy="196966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830A2A8-DF89-D048-997B-C85728CAE3E1}"/>
                      </a:ext>
                    </a:extLst>
                  </p:cNvPr>
                  <p:cNvSpPr/>
                  <p:nvPr/>
                </p:nvSpPr>
                <p:spPr>
                  <a:xfrm>
                    <a:off x="11042699" y="-714542"/>
                    <a:ext cx="1488041" cy="2005794"/>
                  </a:xfrm>
                  <a:prstGeom prst="rect">
                    <a:avLst/>
                  </a:prstGeom>
                  <a:solidFill>
                    <a:srgbClr val="FFFFFF">
                      <a:alpha val="69804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CE8556C-1053-AF42-9F8E-F636B67312EB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553" y="-524757"/>
                    <a:ext cx="1367172" cy="16613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200" b="1" dirty="0">
                        <a:latin typeface="Arial" charset="0"/>
                        <a:ea typeface="Arial" charset="0"/>
                        <a:cs typeface="Arial" charset="0"/>
                      </a:rPr>
                      <a:t>C</a:t>
                    </a: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90841EB-3040-B845-8464-13A9179F8954}"/>
                    </a:ext>
                  </a:extLst>
                </p:cNvPr>
                <p:cNvGrpSpPr/>
                <p:nvPr/>
              </p:nvGrpSpPr>
              <p:grpSpPr>
                <a:xfrm>
                  <a:off x="13517305" y="628434"/>
                  <a:ext cx="825470" cy="1112684"/>
                  <a:chOff x="11042699" y="-714542"/>
                  <a:chExt cx="1488041" cy="2005794"/>
                </a:xfrm>
              </p:grpSpPr>
              <p:pic>
                <p:nvPicPr>
                  <p:cNvPr id="14" name="Picture 13">
                    <a:extLst>
                      <a:ext uri="{FF2B5EF4-FFF2-40B4-BE49-F238E27FC236}">
                        <a16:creationId xmlns:a16="http://schemas.microsoft.com/office/drawing/2014/main" id="{F94BE077-C5B4-EE4F-B5C4-8FB481C9B8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089647" y="-696479"/>
                    <a:ext cx="1441093" cy="196966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DF18CB9D-FC88-804B-81E3-1BC61E44930F}"/>
                      </a:ext>
                    </a:extLst>
                  </p:cNvPr>
                  <p:cNvSpPr/>
                  <p:nvPr/>
                </p:nvSpPr>
                <p:spPr>
                  <a:xfrm>
                    <a:off x="11042699" y="-714542"/>
                    <a:ext cx="1488041" cy="2005794"/>
                  </a:xfrm>
                  <a:prstGeom prst="rect">
                    <a:avLst/>
                  </a:prstGeom>
                  <a:solidFill>
                    <a:srgbClr val="FFFFFF">
                      <a:alpha val="69804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BFFBA59-7A93-DB4B-BF12-4C338EB88D2A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553" y="-524757"/>
                    <a:ext cx="1367172" cy="16613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200" b="1" dirty="0">
                        <a:latin typeface="Arial" charset="0"/>
                        <a:ea typeface="Arial" charset="0"/>
                        <a:cs typeface="Arial" charset="0"/>
                      </a:rPr>
                      <a:t>D</a:t>
                    </a:r>
                  </a:p>
                </p:txBody>
              </p:sp>
            </p:grpSp>
          </p:grp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CF60177-7A89-9E4A-B43C-5C5C3DE8DCF8}"/>
                  </a:ext>
                </a:extLst>
              </p:cNvPr>
              <p:cNvSpPr/>
              <p:nvPr/>
            </p:nvSpPr>
            <p:spPr>
              <a:xfrm>
                <a:off x="5311283" y="3029300"/>
                <a:ext cx="3456860" cy="381918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3EB4EA-D9EC-0F49-880C-00F00D7B215E}"/>
                </a:ext>
              </a:extLst>
            </p:cNvPr>
            <p:cNvCxnSpPr>
              <a:cxnSpLocks/>
            </p:cNvCxnSpPr>
            <p:nvPr/>
          </p:nvCxnSpPr>
          <p:spPr>
            <a:xfrm>
              <a:off x="5507629" y="6294213"/>
              <a:ext cx="3367102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462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E4DD3D60-C978-0B48-A9A1-1ABBD67A9C16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Traditional approach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14F0158-4A25-0F47-B9F5-9A15C1F426C8}"/>
              </a:ext>
            </a:extLst>
          </p:cNvPr>
          <p:cNvSpPr/>
          <p:nvPr/>
        </p:nvSpPr>
        <p:spPr>
          <a:xfrm>
            <a:off x="6342400" y="1912479"/>
            <a:ext cx="347808" cy="3668820"/>
          </a:xfrm>
          <a:prstGeom prst="rightBrace">
            <a:avLst>
              <a:gd name="adj1" fmla="val 8333"/>
              <a:gd name="adj2" fmla="val 50153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5DF630-04E2-A44D-83D6-23F7040AA04D}"/>
              </a:ext>
            </a:extLst>
          </p:cNvPr>
          <p:cNvGrpSpPr/>
          <p:nvPr/>
        </p:nvGrpSpPr>
        <p:grpSpPr>
          <a:xfrm>
            <a:off x="438556" y="1932114"/>
            <a:ext cx="5973317" cy="3668820"/>
            <a:chOff x="438556" y="1932114"/>
            <a:chExt cx="5973317" cy="3668820"/>
          </a:xfrm>
        </p:grpSpPr>
        <p:pic>
          <p:nvPicPr>
            <p:cNvPr id="4" name="Picture 3" descr="Table&#10;&#10;Description automatically generated">
              <a:extLst>
                <a:ext uri="{FF2B5EF4-FFF2-40B4-BE49-F238E27FC236}">
                  <a16:creationId xmlns:a16="http://schemas.microsoft.com/office/drawing/2014/main" id="{391BA7EB-894D-324D-8B7C-078A990F1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556" y="1932114"/>
              <a:ext cx="5842000" cy="3352800"/>
            </a:xfrm>
            <a:prstGeom prst="rect">
              <a:avLst/>
            </a:prstGeom>
            <a:ln w="28575">
              <a:noFill/>
            </a:ln>
            <a:effectLst/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3FFC1B-8AEA-8448-BE0A-D41208D1C41B}"/>
                </a:ext>
              </a:extLst>
            </p:cNvPr>
            <p:cNvSpPr txBox="1"/>
            <p:nvPr/>
          </p:nvSpPr>
          <p:spPr>
            <a:xfrm rot="5400000">
              <a:off x="6019458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73915F-1D36-794D-A8E3-8AFD80F6C6EB}"/>
                </a:ext>
              </a:extLst>
            </p:cNvPr>
            <p:cNvSpPr txBox="1"/>
            <p:nvPr/>
          </p:nvSpPr>
          <p:spPr>
            <a:xfrm rot="5400000">
              <a:off x="5167700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BFF7D2-39E6-6C46-A07C-CA4AF7D13B1D}"/>
                </a:ext>
              </a:extLst>
            </p:cNvPr>
            <p:cNvSpPr txBox="1"/>
            <p:nvPr/>
          </p:nvSpPr>
          <p:spPr>
            <a:xfrm rot="5400000">
              <a:off x="4338657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E27394-1E31-9E4F-AB7B-7E7128F92D91}"/>
                </a:ext>
              </a:extLst>
            </p:cNvPr>
            <p:cNvSpPr txBox="1"/>
            <p:nvPr/>
          </p:nvSpPr>
          <p:spPr>
            <a:xfrm rot="5400000">
              <a:off x="3443215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F89B1D-05AF-6241-A950-3FF274C016D2}"/>
                </a:ext>
              </a:extLst>
            </p:cNvPr>
            <p:cNvSpPr txBox="1"/>
            <p:nvPr/>
          </p:nvSpPr>
          <p:spPr>
            <a:xfrm rot="5400000">
              <a:off x="2732439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CF476B-0215-A04C-808B-EBC43F64B92C}"/>
                </a:ext>
              </a:extLst>
            </p:cNvPr>
            <p:cNvSpPr txBox="1"/>
            <p:nvPr/>
          </p:nvSpPr>
          <p:spPr>
            <a:xfrm rot="5400000">
              <a:off x="2127359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D2BEAB-E1B1-CB45-93F2-624CE772AB76}"/>
                </a:ext>
              </a:extLst>
            </p:cNvPr>
            <p:cNvSpPr txBox="1"/>
            <p:nvPr/>
          </p:nvSpPr>
          <p:spPr>
            <a:xfrm rot="5400000">
              <a:off x="1434919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885BCE-E6C3-A247-B6AD-297D04EEA120}"/>
                </a:ext>
              </a:extLst>
            </p:cNvPr>
            <p:cNvSpPr txBox="1"/>
            <p:nvPr/>
          </p:nvSpPr>
          <p:spPr>
            <a:xfrm rot="5400000">
              <a:off x="525528" y="52085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682121F-F02B-E74F-B653-CC2906EB9D93}"/>
              </a:ext>
            </a:extLst>
          </p:cNvPr>
          <p:cNvSpPr/>
          <p:nvPr/>
        </p:nvSpPr>
        <p:spPr>
          <a:xfrm>
            <a:off x="5761281" y="1932114"/>
            <a:ext cx="519275" cy="362955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8E17B-B373-AC49-875D-57931A5E5B18}"/>
              </a:ext>
            </a:extLst>
          </p:cNvPr>
          <p:cNvSpPr txBox="1"/>
          <p:nvPr/>
        </p:nvSpPr>
        <p:spPr>
          <a:xfrm>
            <a:off x="6706084" y="3285224"/>
            <a:ext cx="2232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 of “bad” decks selections for each person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D24A39-6B5D-C34A-B92E-7B270072332D}"/>
                  </a:ext>
                </a:extLst>
              </p:cNvPr>
              <p:cNvSpPr txBox="1"/>
              <p:nvPr/>
            </p:nvSpPr>
            <p:spPr>
              <a:xfrm>
                <a:off x="6662758" y="4662216"/>
                <a:ext cx="22327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  <m:t>𝑟𝑜𝑝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Latin Modern Math" panose="02000503000000000000" pitchFamily="2" charset="77"/>
                          <a:ea typeface="Latin Modern Math" panose="02000503000000000000" pitchFamily="2" charset="77"/>
                          <a:cs typeface="Arial" panose="020B0604020202020204" pitchFamily="34" charset="0"/>
                        </a:rPr>
                        <m:t>=.43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D24A39-6B5D-C34A-B92E-7B2700723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8" y="4662216"/>
                <a:ext cx="2232706" cy="523220"/>
              </a:xfrm>
              <a:prstGeom prst="rect">
                <a:avLst/>
              </a:prstGeom>
              <a:blipFill>
                <a:blip r:embed="rId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D55337-70F8-7A4B-A4A1-1F654D2E27F8}"/>
              </a:ext>
            </a:extLst>
          </p:cNvPr>
          <p:cNvCxnSpPr/>
          <p:nvPr/>
        </p:nvCxnSpPr>
        <p:spPr>
          <a:xfrm>
            <a:off x="7702277" y="4208554"/>
            <a:ext cx="0" cy="5104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C739E86-F6F9-8246-8DA7-6B4AD58E2676}"/>
              </a:ext>
            </a:extLst>
          </p:cNvPr>
          <p:cNvSpPr/>
          <p:nvPr/>
        </p:nvSpPr>
        <p:spPr>
          <a:xfrm rot="3315856">
            <a:off x="6663577" y="5059665"/>
            <a:ext cx="555032" cy="555032"/>
          </a:xfrm>
          <a:prstGeom prst="arc">
            <a:avLst>
              <a:gd name="adj1" fmla="val 16200000"/>
              <a:gd name="adj2" fmla="val 12216617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C81425-9C95-9545-A7C3-DA7BEE6C6F2E}"/>
                  </a:ext>
                </a:extLst>
              </p:cNvPr>
              <p:cNvSpPr txBox="1"/>
              <p:nvPr/>
            </p:nvSpPr>
            <p:spPr>
              <a:xfrm>
                <a:off x="7219471" y="5345528"/>
                <a:ext cx="15423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for each person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Latin Modern Math" panose="02000503000000000000" pitchFamily="2" charset="77"/>
                        <a:ea typeface="Latin Modern Math" panose="02000503000000000000" pitchFamily="2" charset="77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endParaRPr lang="en-US" i="1" dirty="0">
                  <a:solidFill>
                    <a:sysClr val="windowText" lastClr="000000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C81425-9C95-9545-A7C3-DA7BEE6C6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471" y="5345528"/>
                <a:ext cx="1542347" cy="646331"/>
              </a:xfrm>
              <a:prstGeom prst="rect">
                <a:avLst/>
              </a:prstGeom>
              <a:blipFill>
                <a:blip r:embed="rId5"/>
                <a:stretch>
                  <a:fillRect l="-3279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93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/>
      <p:bldP spid="22" grpId="0"/>
      <p:bldP spid="25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>
            <a:extLst>
              <a:ext uri="{FF2B5EF4-FFF2-40B4-BE49-F238E27FC236}">
                <a16:creationId xmlns:a16="http://schemas.microsoft.com/office/drawing/2014/main" id="{A8B20764-E7CE-2640-AFEF-991E02DC1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60" y="1600200"/>
            <a:ext cx="7872680" cy="478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73D800-8CBA-CF47-A41D-F9987651282B}"/>
                  </a:ext>
                </a:extLst>
              </p:cNvPr>
              <p:cNvSpPr txBox="1"/>
              <p:nvPr/>
            </p:nvSpPr>
            <p:spPr>
              <a:xfrm>
                <a:off x="1130051" y="5825500"/>
                <a:ext cx="5061386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Proportion Bad Deck Selections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73D800-8CBA-CF47-A41D-F99876512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051" y="5825500"/>
                <a:ext cx="5061386" cy="461665"/>
              </a:xfrm>
              <a:prstGeom prst="rect">
                <a:avLst/>
              </a:prstGeom>
              <a:blipFill>
                <a:blip r:embed="rId3"/>
                <a:stretch>
                  <a:fillRect l="-1750" t="-13514" r="-10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E4DD3D60-C978-0B48-A9A1-1ABBD67A9C16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Traditional Approach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0D4ABE-ABF1-2847-8939-0287FA42D30D}"/>
              </a:ext>
            </a:extLst>
          </p:cNvPr>
          <p:cNvGrpSpPr/>
          <p:nvPr/>
        </p:nvGrpSpPr>
        <p:grpSpPr>
          <a:xfrm>
            <a:off x="2201594" y="2149167"/>
            <a:ext cx="2918299" cy="517719"/>
            <a:chOff x="2329361" y="2130114"/>
            <a:chExt cx="2918299" cy="5177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5E2016-D142-A348-AC42-539D507292E1}"/>
                </a:ext>
              </a:extLst>
            </p:cNvPr>
            <p:cNvSpPr txBox="1"/>
            <p:nvPr/>
          </p:nvSpPr>
          <p:spPr>
            <a:xfrm>
              <a:off x="2329361" y="2130114"/>
              <a:ext cx="2918299" cy="369332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Two-sample </a:t>
              </a:r>
              <a:r>
                <a:rPr lang="en-US" b="1" i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-test</a:t>
              </a:r>
              <a:r>
                <a:rPr lang="en-US" b="1" i="1" dirty="0">
                  <a:latin typeface="Arial" panose="020B0604020202020204" pitchFamily="34" charset="0"/>
                  <a:cs typeface="Arial" panose="020B0604020202020204" pitchFamily="34" charset="0"/>
                </a:rPr>
                <a:t> p = .08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2809DF63-79A1-784A-AB49-6968020F913F}"/>
                </a:ext>
              </a:extLst>
            </p:cNvPr>
            <p:cNvSpPr/>
            <p:nvPr/>
          </p:nvSpPr>
          <p:spPr>
            <a:xfrm rot="5400000">
              <a:off x="3631088" y="2245465"/>
              <a:ext cx="198877" cy="605859"/>
            </a:xfrm>
            <a:prstGeom prst="lef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14CE4C-019A-2945-8D5C-6ED263AD5315}"/>
                  </a:ext>
                </a:extLst>
              </p:cNvPr>
              <p:cNvSpPr txBox="1"/>
              <p:nvPr/>
            </p:nvSpPr>
            <p:spPr>
              <a:xfrm>
                <a:off x="5529575" y="5803059"/>
                <a:ext cx="86561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Latin Modern Math" panose="02000503000000000000" pitchFamily="2" charset="77"/>
                          <a:ea typeface="Latin Modern Math" panose="02000503000000000000" pitchFamily="2" charset="77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  <m:t>𝑟𝑜𝑝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Latin Modern Math" panose="02000503000000000000" pitchFamily="2" charset="77"/>
                              <a:ea typeface="Latin Modern Math" panose="02000503000000000000" pitchFamily="2" charset="77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Latin Modern Math" panose="02000503000000000000" pitchFamily="2" charset="77"/>
                          <a:ea typeface="Latin Modern Math" panose="02000503000000000000" pitchFamily="2" charset="77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14CE4C-019A-2945-8D5C-6ED263AD5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575" y="5803059"/>
                <a:ext cx="865615" cy="461665"/>
              </a:xfrm>
              <a:prstGeom prst="rect">
                <a:avLst/>
              </a:prstGeom>
              <a:blipFill>
                <a:blip r:embed="rId5"/>
                <a:stretch>
                  <a:fillRect l="-7246" r="-34783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03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144755" cy="504486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Theoretical knowledge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About data collection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100 total trials/elections made by each person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Observed outcomes are binary—each trial is coded “good” (0) or “bad” (1) </a:t>
            </a:r>
          </a:p>
          <a:p>
            <a:pPr lvl="1">
              <a:buFont typeface="Wingdings" pitchFamily="2" charset="2"/>
              <a:buChar char="Ø"/>
            </a:pPr>
            <a:endParaRPr lang="en-US" sz="2400" dirty="0">
              <a:solidFill>
                <a:srgbClr val="C0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About impulsivity and behavior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Each person has a latent “impulsivity” trait, which probabilistically gives rise to impulsive behavior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Higher trait impulsivity should produce more “bad” selections across trials in the current context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Trait impulsivity is normally distributed at the population level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4DD3D60-C978-0B48-A9A1-1ABBD67A9C16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data-generating process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50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>
            <a:extLst>
              <a:ext uri="{FF2B5EF4-FFF2-40B4-BE49-F238E27FC236}">
                <a16:creationId xmlns:a16="http://schemas.microsoft.com/office/drawing/2014/main" id="{D3202E36-8DB3-C94E-87EB-24EB805BE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1" y="3083847"/>
            <a:ext cx="8244789" cy="332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>
            <a:extLst>
              <a:ext uri="{FF2B5EF4-FFF2-40B4-BE49-F238E27FC236}">
                <a16:creationId xmlns:a16="http://schemas.microsoft.com/office/drawing/2014/main" id="{F5D265CC-5608-534D-AC3D-B5BAE0BC9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20" y="4095165"/>
            <a:ext cx="8456580" cy="253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E4DD3D60-C978-0B48-A9A1-1ABBD67A9C16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Simulating binary outcomes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4C0CB-E736-4F46-AC1C-FB4D0462A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51" y="2556007"/>
            <a:ext cx="3797300" cy="469900"/>
          </a:xfrm>
          <a:prstGeom prst="rect">
            <a:avLst/>
          </a:prstGeom>
        </p:spPr>
      </p:pic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29566158-D989-684B-8198-7AE5E5D650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285" y="1809908"/>
            <a:ext cx="2857107" cy="4417875"/>
          </a:xfrm>
          <a:prstGeom prst="rect">
            <a:avLst/>
          </a:prstGeom>
        </p:spPr>
      </p:pic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9B416F0-4B2D-BF41-9C87-C088E8751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603" y="3429000"/>
            <a:ext cx="4568995" cy="18297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68E3ED-3D73-0A4D-AA8D-82FF01ECB629}"/>
              </a:ext>
            </a:extLst>
          </p:cNvPr>
          <p:cNvSpPr txBox="1"/>
          <p:nvPr/>
        </p:nvSpPr>
        <p:spPr>
          <a:xfrm>
            <a:off x="4535451" y="1405233"/>
            <a:ext cx="3696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C00000"/>
                </a:solidFill>
              </a:rPr>
              <a:t>Bad/good selection is a biased coin flip on each trial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4E2AEF-00ED-024F-B79F-87253A17AFDA}"/>
              </a:ext>
            </a:extLst>
          </p:cNvPr>
          <p:cNvGrpSpPr/>
          <p:nvPr/>
        </p:nvGrpSpPr>
        <p:grpSpPr>
          <a:xfrm>
            <a:off x="3113282" y="1813111"/>
            <a:ext cx="1085337" cy="4260029"/>
            <a:chOff x="3113282" y="1813111"/>
            <a:chExt cx="1085337" cy="42600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8A3A756-CBB2-E047-A04A-47F08D8D70B3}"/>
                </a:ext>
              </a:extLst>
            </p:cNvPr>
            <p:cNvGrpSpPr/>
            <p:nvPr/>
          </p:nvGrpSpPr>
          <p:grpSpPr>
            <a:xfrm>
              <a:off x="3221404" y="2251470"/>
              <a:ext cx="484860" cy="3740727"/>
              <a:chOff x="3221404" y="2251470"/>
              <a:chExt cx="484860" cy="3740727"/>
            </a:xfrm>
          </p:grpSpPr>
          <p:pic>
            <p:nvPicPr>
              <p:cNvPr id="10" name="Picture 9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BDCC5A6B-3638-E14E-904D-72CAEEFE60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9291" t="9880" r="3738" b="5447"/>
              <a:stretch/>
            </p:blipFill>
            <p:spPr>
              <a:xfrm>
                <a:off x="3221404" y="2251470"/>
                <a:ext cx="484860" cy="3740727"/>
              </a:xfrm>
              <a:prstGeom prst="rect">
                <a:avLst/>
              </a:prstGeom>
            </p:spPr>
          </p:pic>
          <p:pic>
            <p:nvPicPr>
              <p:cNvPr id="11" name="Picture 10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E602A0A6-EEE2-E545-BAA4-3B7C8C4697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9291" t="49228" r="3738" b="42665"/>
              <a:stretch/>
            </p:blipFill>
            <p:spPr>
              <a:xfrm>
                <a:off x="3221404" y="2596144"/>
                <a:ext cx="484860" cy="358140"/>
              </a:xfrm>
              <a:prstGeom prst="rect">
                <a:avLst/>
              </a:prstGeom>
            </p:spPr>
          </p:pic>
          <p:pic>
            <p:nvPicPr>
              <p:cNvPr id="12" name="Picture 11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667F60F5-79C8-4747-B8FE-7011BF9E92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9291" t="72512" r="3738" b="18174"/>
              <a:stretch/>
            </p:blipFill>
            <p:spPr>
              <a:xfrm>
                <a:off x="3221404" y="4343869"/>
                <a:ext cx="484860" cy="41148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66ABED-A972-0E4A-B35A-9402FBB6183C}"/>
                </a:ext>
              </a:extLst>
            </p:cNvPr>
            <p:cNvSpPr txBox="1"/>
            <p:nvPr/>
          </p:nvSpPr>
          <p:spPr>
            <a:xfrm>
              <a:off x="3113282" y="1813111"/>
              <a:ext cx="1085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 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C54DFE-D27F-A348-A87E-A0D5CAC15280}"/>
                </a:ext>
              </a:extLst>
            </p:cNvPr>
            <p:cNvSpPr/>
            <p:nvPr/>
          </p:nvSpPr>
          <p:spPr>
            <a:xfrm>
              <a:off x="3299460" y="2236230"/>
              <a:ext cx="571500" cy="383691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B4350F-9360-7444-B122-A50270497D2C}"/>
              </a:ext>
            </a:extLst>
          </p:cNvPr>
          <p:cNvGrpSpPr/>
          <p:nvPr/>
        </p:nvGrpSpPr>
        <p:grpSpPr>
          <a:xfrm>
            <a:off x="3113281" y="1810188"/>
            <a:ext cx="1085337" cy="4260029"/>
            <a:chOff x="4149603" y="1809908"/>
            <a:chExt cx="1085337" cy="426002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500027F-08DE-0E49-AE5E-115657100B18}"/>
                </a:ext>
              </a:extLst>
            </p:cNvPr>
            <p:cNvGrpSpPr/>
            <p:nvPr/>
          </p:nvGrpSpPr>
          <p:grpSpPr>
            <a:xfrm>
              <a:off x="4149603" y="1809908"/>
              <a:ext cx="1085337" cy="4179086"/>
              <a:chOff x="4149603" y="1809908"/>
              <a:chExt cx="1085337" cy="4179086"/>
            </a:xfrm>
          </p:grpSpPr>
          <p:pic>
            <p:nvPicPr>
              <p:cNvPr id="29" name="Picture 28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1FE51333-D0B5-8343-A0AF-8A6506D580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9291" t="9880" r="3738" b="5447"/>
              <a:stretch/>
            </p:blipFill>
            <p:spPr>
              <a:xfrm>
                <a:off x="4257725" y="2248267"/>
                <a:ext cx="484860" cy="3740727"/>
              </a:xfrm>
              <a:prstGeom prst="rect">
                <a:avLst/>
              </a:prstGeom>
            </p:spPr>
          </p:pic>
          <p:pic>
            <p:nvPicPr>
              <p:cNvPr id="30" name="Picture 29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2E6E2E7F-6DE0-E940-B6EF-2D26C9917D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9291" t="49228" r="3738" b="42665"/>
              <a:stretch/>
            </p:blipFill>
            <p:spPr>
              <a:xfrm>
                <a:off x="4257725" y="2267481"/>
                <a:ext cx="484860" cy="358140"/>
              </a:xfrm>
              <a:prstGeom prst="rect">
                <a:avLst/>
              </a:prstGeom>
            </p:spPr>
          </p:pic>
          <p:pic>
            <p:nvPicPr>
              <p:cNvPr id="31" name="Picture 30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06885CBA-F223-8C44-BFF1-B504E78983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9291" t="72512" r="3738" b="18174"/>
              <a:stretch/>
            </p:blipFill>
            <p:spPr>
              <a:xfrm>
                <a:off x="4257725" y="4676584"/>
                <a:ext cx="484860" cy="41148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D1B66B-3FE5-C447-9987-E6296935C87D}"/>
                  </a:ext>
                </a:extLst>
              </p:cNvPr>
              <p:cNvSpPr txBox="1"/>
              <p:nvPr/>
            </p:nvSpPr>
            <p:spPr>
              <a:xfrm>
                <a:off x="4149603" y="1809908"/>
                <a:ext cx="10853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i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 2</a:t>
                </a: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CBB7DCC-8065-0146-BD92-A69F3FF08148}"/>
                </a:ext>
              </a:extLst>
            </p:cNvPr>
            <p:cNvSpPr/>
            <p:nvPr/>
          </p:nvSpPr>
          <p:spPr>
            <a:xfrm>
              <a:off x="4335781" y="2233027"/>
              <a:ext cx="571500" cy="383691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ight Brace 17">
            <a:extLst>
              <a:ext uri="{FF2B5EF4-FFF2-40B4-BE49-F238E27FC236}">
                <a16:creationId xmlns:a16="http://schemas.microsoft.com/office/drawing/2014/main" id="{34C4B89E-6D51-FD4C-B693-8733A1093EEF}"/>
              </a:ext>
            </a:extLst>
          </p:cNvPr>
          <p:cNvSpPr/>
          <p:nvPr/>
        </p:nvSpPr>
        <p:spPr>
          <a:xfrm>
            <a:off x="3760056" y="2307058"/>
            <a:ext cx="343999" cy="3733800"/>
          </a:xfrm>
          <a:prstGeom prst="rightBrace">
            <a:avLst>
              <a:gd name="adj1" fmla="val 8333"/>
              <a:gd name="adj2" fmla="val 75390"/>
            </a:avLst>
          </a:prstGeom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AFEDE8-EA73-8B4A-87CE-D896458C171F}"/>
                  </a:ext>
                </a:extLst>
              </p:cNvPr>
              <p:cNvSpPr txBox="1"/>
              <p:nvPr/>
            </p:nvSpPr>
            <p:spPr>
              <a:xfrm>
                <a:off x="3803129" y="5808607"/>
                <a:ext cx="22327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Latin Modern Math" panose="02000503000000000000" pitchFamily="2" charset="77"/>
                          <a:ea typeface="Latin Modern Math" panose="02000503000000000000" pitchFamily="2" charset="77"/>
                          <a:cs typeface="Arial" panose="020B0604020202020204" pitchFamily="34" charset="0"/>
                        </a:rPr>
                        <m:t>.05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AFEDE8-EA73-8B4A-87CE-D896458C1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129" y="5808607"/>
                <a:ext cx="2232706" cy="523220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>
            <a:extLst>
              <a:ext uri="{FF2B5EF4-FFF2-40B4-BE49-F238E27FC236}">
                <a16:creationId xmlns:a16="http://schemas.microsoft.com/office/drawing/2014/main" id="{583F97F7-E387-2C44-B5FA-A90C45A9F1CF}"/>
              </a:ext>
            </a:extLst>
          </p:cNvPr>
          <p:cNvSpPr/>
          <p:nvPr/>
        </p:nvSpPr>
        <p:spPr>
          <a:xfrm>
            <a:off x="3629891" y="6031345"/>
            <a:ext cx="979054" cy="324312"/>
          </a:xfrm>
          <a:custGeom>
            <a:avLst/>
            <a:gdLst>
              <a:gd name="connsiteX0" fmla="*/ 0 w 979054"/>
              <a:gd name="connsiteY0" fmla="*/ 0 h 324312"/>
              <a:gd name="connsiteX1" fmla="*/ 249382 w 979054"/>
              <a:gd name="connsiteY1" fmla="*/ 323273 h 324312"/>
              <a:gd name="connsiteX2" fmla="*/ 979054 w 979054"/>
              <a:gd name="connsiteY2" fmla="*/ 83128 h 32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054" h="324312">
                <a:moveTo>
                  <a:pt x="0" y="0"/>
                </a:moveTo>
                <a:cubicBezTo>
                  <a:pt x="43103" y="154709"/>
                  <a:pt x="86206" y="309418"/>
                  <a:pt x="249382" y="323273"/>
                </a:cubicBezTo>
                <a:cubicBezTo>
                  <a:pt x="412558" y="337128"/>
                  <a:pt x="695806" y="210128"/>
                  <a:pt x="979054" y="83128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694E84-437D-B541-9052-8B2AFA2DD176}"/>
                  </a:ext>
                </a:extLst>
              </p:cNvPr>
              <p:cNvSpPr txBox="1"/>
              <p:nvPr/>
            </p:nvSpPr>
            <p:spPr>
              <a:xfrm>
                <a:off x="5028441" y="5808952"/>
                <a:ext cx="10935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Latin Modern Math" panose="02000503000000000000" pitchFamily="2" charset="77"/>
                          <a:ea typeface="Latin Modern Math" panose="02000503000000000000" pitchFamily="2" charset="77"/>
                          <a:cs typeface="Arial" panose="020B0604020202020204" pitchFamily="34" charset="0"/>
                        </a:rPr>
                        <m:t>.08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694E84-437D-B541-9052-8B2AFA2DD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441" y="5808952"/>
                <a:ext cx="1093578" cy="523220"/>
              </a:xfrm>
              <a:prstGeom prst="rect">
                <a:avLst/>
              </a:prstGeom>
              <a:blipFill>
                <a:blip r:embed="rId9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>
            <a:extLst>
              <a:ext uri="{FF2B5EF4-FFF2-40B4-BE49-F238E27FC236}">
                <a16:creationId xmlns:a16="http://schemas.microsoft.com/office/drawing/2014/main" id="{3BFABCF7-31AF-6B43-B7C6-A6C75A39954B}"/>
              </a:ext>
            </a:extLst>
          </p:cNvPr>
          <p:cNvSpPr/>
          <p:nvPr/>
        </p:nvSpPr>
        <p:spPr>
          <a:xfrm>
            <a:off x="3650226" y="6120581"/>
            <a:ext cx="1637071" cy="377953"/>
          </a:xfrm>
          <a:custGeom>
            <a:avLst/>
            <a:gdLst>
              <a:gd name="connsiteX0" fmla="*/ 0 w 1637071"/>
              <a:gd name="connsiteY0" fmla="*/ 0 h 377953"/>
              <a:gd name="connsiteX1" fmla="*/ 744793 w 1637071"/>
              <a:gd name="connsiteY1" fmla="*/ 376084 h 377953"/>
              <a:gd name="connsiteX2" fmla="*/ 1637071 w 1637071"/>
              <a:gd name="connsiteY2" fmla="*/ 117987 h 377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7071" h="377953">
                <a:moveTo>
                  <a:pt x="0" y="0"/>
                </a:moveTo>
                <a:cubicBezTo>
                  <a:pt x="235974" y="178209"/>
                  <a:pt x="471948" y="356419"/>
                  <a:pt x="744793" y="376084"/>
                </a:cubicBezTo>
                <a:cubicBezTo>
                  <a:pt x="1017638" y="395749"/>
                  <a:pt x="1327354" y="256868"/>
                  <a:pt x="1637071" y="117987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3A9038-6A43-F948-A63E-C78457AD334F}"/>
                  </a:ext>
                </a:extLst>
              </p:cNvPr>
              <p:cNvSpPr txBox="1"/>
              <p:nvPr/>
            </p:nvSpPr>
            <p:spPr>
              <a:xfrm>
                <a:off x="5437959" y="5809888"/>
                <a:ext cx="22327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Latin Modern Math" panose="02000503000000000000" pitchFamily="2" charset="77"/>
                          <a:ea typeface="Latin Modern Math" panose="02000503000000000000" pitchFamily="2" charset="77"/>
                          <a:cs typeface="Arial" panose="020B0604020202020204" pitchFamily="34" charset="0"/>
                        </a:rPr>
                        <m:t>…………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3A9038-6A43-F948-A63E-C78457AD3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959" y="5809888"/>
                <a:ext cx="223270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2">
            <a:extLst>
              <a:ext uri="{FF2B5EF4-FFF2-40B4-BE49-F238E27FC236}">
                <a16:creationId xmlns:a16="http://schemas.microsoft.com/office/drawing/2014/main" id="{C26E58F4-A94B-144C-9BA4-4453B8F23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09"/>
          <a:stretch/>
        </p:blipFill>
        <p:spPr bwMode="auto">
          <a:xfrm>
            <a:off x="230220" y="4095165"/>
            <a:ext cx="2240245" cy="253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7831C1E4-B17A-A041-8746-331BE7307018}"/>
              </a:ext>
            </a:extLst>
          </p:cNvPr>
          <p:cNvSpPr/>
          <p:nvPr/>
        </p:nvSpPr>
        <p:spPr>
          <a:xfrm rot="5400000">
            <a:off x="6502578" y="4268133"/>
            <a:ext cx="222864" cy="4175048"/>
          </a:xfrm>
          <a:prstGeom prst="rightBrac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614A785-2B15-334B-A2E0-C550A19785AA}"/>
              </a:ext>
            </a:extLst>
          </p:cNvPr>
          <p:cNvSpPr/>
          <p:nvPr/>
        </p:nvSpPr>
        <p:spPr>
          <a:xfrm>
            <a:off x="2351314" y="5467739"/>
            <a:ext cx="4273421" cy="1187664"/>
          </a:xfrm>
          <a:custGeom>
            <a:avLst/>
            <a:gdLst>
              <a:gd name="connsiteX0" fmla="*/ 4273421 w 4273421"/>
              <a:gd name="connsiteY0" fmla="*/ 989045 h 1187664"/>
              <a:gd name="connsiteX1" fmla="*/ 3237723 w 4273421"/>
              <a:gd name="connsiteY1" fmla="*/ 1147665 h 1187664"/>
              <a:gd name="connsiteX2" fmla="*/ 1371600 w 4273421"/>
              <a:gd name="connsiteY2" fmla="*/ 1073020 h 1187664"/>
              <a:gd name="connsiteX3" fmla="*/ 0 w 4273421"/>
              <a:gd name="connsiteY3" fmla="*/ 0 h 118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421" h="1187664">
                <a:moveTo>
                  <a:pt x="4273421" y="989045"/>
                </a:moveTo>
                <a:cubicBezTo>
                  <a:pt x="3997390" y="1061357"/>
                  <a:pt x="3721360" y="1133669"/>
                  <a:pt x="3237723" y="1147665"/>
                </a:cubicBezTo>
                <a:cubicBezTo>
                  <a:pt x="2754086" y="1161661"/>
                  <a:pt x="1911220" y="1264298"/>
                  <a:pt x="1371600" y="1073020"/>
                </a:cubicBezTo>
                <a:cubicBezTo>
                  <a:pt x="831979" y="881742"/>
                  <a:pt x="415989" y="440871"/>
                  <a:pt x="0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8C7A1CC-3452-3A41-B205-DDAD7603CF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7827" y="2328417"/>
            <a:ext cx="4064000" cy="482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562885-130C-4045-A72B-FF7F6F0A078F}"/>
              </a:ext>
            </a:extLst>
          </p:cNvPr>
          <p:cNvSpPr txBox="1"/>
          <p:nvPr/>
        </p:nvSpPr>
        <p:spPr>
          <a:xfrm>
            <a:off x="368433" y="1579075"/>
            <a:ext cx="1310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Likelihood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DEE63C-A74E-6847-9640-FAE3444558FC}"/>
              </a:ext>
            </a:extLst>
          </p:cNvPr>
          <p:cNvSpPr txBox="1"/>
          <p:nvPr/>
        </p:nvSpPr>
        <p:spPr>
          <a:xfrm>
            <a:off x="962507" y="2319469"/>
            <a:ext cx="716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Prior</a:t>
            </a: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3B9C15A3-441C-414D-A64C-5272042E6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19"/>
          <a:stretch/>
        </p:blipFill>
        <p:spPr bwMode="auto">
          <a:xfrm>
            <a:off x="343362" y="3083847"/>
            <a:ext cx="3073770" cy="332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0AD5AC-54D8-444B-A506-FE2B818F147B}"/>
              </a:ext>
            </a:extLst>
          </p:cNvPr>
          <p:cNvCxnSpPr>
            <a:cxnSpLocks/>
          </p:cNvCxnSpPr>
          <p:nvPr/>
        </p:nvCxnSpPr>
        <p:spPr>
          <a:xfrm>
            <a:off x="4218103" y="2830080"/>
            <a:ext cx="1991485" cy="0"/>
          </a:xfrm>
          <a:prstGeom prst="line">
            <a:avLst/>
          </a:prstGeom>
          <a:ln w="38100">
            <a:solidFill>
              <a:srgbClr val="8A0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942CBE5-AC86-7846-86AA-3D8300BF11E4}"/>
              </a:ext>
            </a:extLst>
          </p:cNvPr>
          <p:cNvCxnSpPr/>
          <p:nvPr/>
        </p:nvCxnSpPr>
        <p:spPr>
          <a:xfrm flipH="1">
            <a:off x="2372474" y="2841100"/>
            <a:ext cx="2788079" cy="1587578"/>
          </a:xfrm>
          <a:prstGeom prst="straightConnector1">
            <a:avLst/>
          </a:prstGeom>
          <a:ln>
            <a:solidFill>
              <a:srgbClr val="8A0F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8780C06-FDF2-4745-90E5-09110FCC1EA1}"/>
              </a:ext>
            </a:extLst>
          </p:cNvPr>
          <p:cNvCxnSpPr/>
          <p:nvPr/>
        </p:nvCxnSpPr>
        <p:spPr>
          <a:xfrm>
            <a:off x="2604953" y="4597048"/>
            <a:ext cx="3674429" cy="0"/>
          </a:xfrm>
          <a:prstGeom prst="straightConnector1">
            <a:avLst/>
          </a:prstGeom>
          <a:ln>
            <a:solidFill>
              <a:srgbClr val="8A0F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0DEC40-9B3D-7240-BFAD-DDECC5731372}"/>
              </a:ext>
            </a:extLst>
          </p:cNvPr>
          <p:cNvSpPr txBox="1"/>
          <p:nvPr/>
        </p:nvSpPr>
        <p:spPr>
          <a:xfrm>
            <a:off x="3216676" y="4244088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0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Approximately Uniform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6DF511-A462-ED45-ACAF-44BF0A7C08C8}"/>
              </a:ext>
            </a:extLst>
          </p:cNvPr>
          <p:cNvCxnSpPr>
            <a:cxnSpLocks/>
          </p:cNvCxnSpPr>
          <p:nvPr/>
        </p:nvCxnSpPr>
        <p:spPr>
          <a:xfrm flipH="1" flipV="1">
            <a:off x="6261827" y="2040740"/>
            <a:ext cx="684346" cy="1791355"/>
          </a:xfrm>
          <a:prstGeom prst="straightConnector1">
            <a:avLst/>
          </a:prstGeom>
          <a:ln>
            <a:solidFill>
              <a:srgbClr val="8A0F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29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-0.00555 L -0.1941 -0.1368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6574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3" grpId="2"/>
      <p:bldP spid="18" grpId="0" animBg="1"/>
      <p:bldP spid="18" grpId="1" animBg="1"/>
      <p:bldP spid="25" grpId="1"/>
      <p:bldP spid="25" grpId="2"/>
      <p:bldP spid="8" grpId="0" animBg="1"/>
      <p:bldP spid="8" grpId="1" animBg="1"/>
      <p:bldP spid="26" grpId="0"/>
      <p:bldP spid="26" grpId="1"/>
      <p:bldP spid="26" grpId="2"/>
      <p:bldP spid="9" grpId="0" animBg="1"/>
      <p:bldP spid="9" grpId="1" animBg="1"/>
      <p:bldP spid="28" grpId="2"/>
      <p:bldP spid="28" grpId="3"/>
      <p:bldP spid="13" grpId="0" animBg="1"/>
      <p:bldP spid="13" grpId="1" animBg="1"/>
      <p:bldP spid="14" grpId="0" animBg="1"/>
      <p:bldP spid="14" grpId="1" animBg="1"/>
      <p:bldP spid="16" grpId="0"/>
      <p:bldP spid="38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0240FE-72B8-714A-92AD-4831B6A8C547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Prior predictive simulations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D3BAB-AF14-5749-94D5-388AA1BA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827" y="2328417"/>
            <a:ext cx="40640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5B1D2-2966-7A47-9652-42EF0AABA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743" y="1619415"/>
            <a:ext cx="3797300" cy="4699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C6E1808-6754-804B-8870-5259D3EE38CD}"/>
              </a:ext>
            </a:extLst>
          </p:cNvPr>
          <p:cNvGrpSpPr/>
          <p:nvPr/>
        </p:nvGrpSpPr>
        <p:grpSpPr>
          <a:xfrm>
            <a:off x="302820" y="3429000"/>
            <a:ext cx="2181110" cy="2677656"/>
            <a:chOff x="302820" y="3429000"/>
            <a:chExt cx="2181110" cy="267765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735E70-826F-CF47-A7E7-2A4CD83774F6}"/>
                </a:ext>
              </a:extLst>
            </p:cNvPr>
            <p:cNvSpPr txBox="1"/>
            <p:nvPr/>
          </p:nvSpPr>
          <p:spPr>
            <a:xfrm>
              <a:off x="302820" y="3429000"/>
              <a:ext cx="2181110" cy="2677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C00000"/>
                  </a:solidFill>
                </a:rPr>
                <a:t>Sample prior</a:t>
              </a:r>
            </a:p>
            <a:p>
              <a:pPr algn="ctr"/>
              <a:endParaRPr lang="en-US" sz="2400" i="1" dirty="0">
                <a:solidFill>
                  <a:srgbClr val="C00000"/>
                </a:solidFill>
              </a:endParaRPr>
            </a:p>
            <a:p>
              <a:pPr algn="ctr"/>
              <a:r>
                <a:rPr lang="en-US" sz="2400" i="1" dirty="0">
                  <a:solidFill>
                    <a:srgbClr val="C00000"/>
                  </a:solidFill>
                </a:rPr>
                <a:t>Sample likelihood</a:t>
              </a:r>
            </a:p>
            <a:p>
              <a:pPr algn="ctr"/>
              <a:endParaRPr lang="en-US" sz="2400" i="1" dirty="0">
                <a:solidFill>
                  <a:srgbClr val="C00000"/>
                </a:solidFill>
              </a:endParaRPr>
            </a:p>
            <a:p>
              <a:pPr algn="ctr"/>
              <a:r>
                <a:rPr lang="en-US" sz="2400" i="1" dirty="0">
                  <a:solidFill>
                    <a:srgbClr val="C00000"/>
                  </a:solidFill>
                </a:rPr>
                <a:t>Summarize</a:t>
              </a:r>
            </a:p>
            <a:p>
              <a:pPr algn="ctr"/>
              <a:endParaRPr lang="en-US" sz="2400" i="1" dirty="0">
                <a:solidFill>
                  <a:srgbClr val="C00000"/>
                </a:solidFill>
              </a:endParaRPr>
            </a:p>
            <a:p>
              <a:pPr algn="ctr"/>
              <a:r>
                <a:rPr lang="en-US" sz="2400" i="1" dirty="0">
                  <a:solidFill>
                    <a:srgbClr val="C00000"/>
                  </a:solidFill>
                </a:rPr>
                <a:t>Repeat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FC0A4FE-1533-0D4A-8F47-B59A5FBB3A5A}"/>
                </a:ext>
              </a:extLst>
            </p:cNvPr>
            <p:cNvCxnSpPr/>
            <p:nvPr/>
          </p:nvCxnSpPr>
          <p:spPr>
            <a:xfrm>
              <a:off x="1387158" y="3881535"/>
              <a:ext cx="0" cy="30791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B50CBA-55F8-A142-8BDB-A8E108C801D6}"/>
                </a:ext>
              </a:extLst>
            </p:cNvPr>
            <p:cNvCxnSpPr/>
            <p:nvPr/>
          </p:nvCxnSpPr>
          <p:spPr>
            <a:xfrm>
              <a:off x="1387158" y="4665076"/>
              <a:ext cx="0" cy="30791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EF4D519-3DE7-7A40-A85E-25B9B4ADF2BE}"/>
                </a:ext>
              </a:extLst>
            </p:cNvPr>
            <p:cNvCxnSpPr/>
            <p:nvPr/>
          </p:nvCxnSpPr>
          <p:spPr>
            <a:xfrm>
              <a:off x="1387158" y="5386873"/>
              <a:ext cx="0" cy="30791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Chart, histogram&#10;&#10;Description automatically generated">
            <a:extLst>
              <a:ext uri="{FF2B5EF4-FFF2-40B4-BE49-F238E27FC236}">
                <a16:creationId xmlns:a16="http://schemas.microsoft.com/office/drawing/2014/main" id="{B9867CC3-65CA-6E48-897F-106C59036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158" y="3554969"/>
            <a:ext cx="5768022" cy="28360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6EE19E-B471-BD40-8753-4653A150ED1D}"/>
              </a:ext>
            </a:extLst>
          </p:cNvPr>
          <p:cNvSpPr/>
          <p:nvPr/>
        </p:nvSpPr>
        <p:spPr>
          <a:xfrm>
            <a:off x="2015412" y="2164702"/>
            <a:ext cx="4721290" cy="7744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C6B45-CEA2-564A-9FC2-2C2139C5B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827" y="2328417"/>
            <a:ext cx="3708400" cy="482600"/>
          </a:xfrm>
          <a:prstGeom prst="rect">
            <a:avLst/>
          </a:prstGeom>
        </p:spPr>
      </p:pic>
      <p:pic>
        <p:nvPicPr>
          <p:cNvPr id="29" name="Picture 28" descr="Chart, histogram&#10;&#10;Description automatically generated">
            <a:extLst>
              <a:ext uri="{FF2B5EF4-FFF2-40B4-BE49-F238E27FC236}">
                <a16:creationId xmlns:a16="http://schemas.microsoft.com/office/drawing/2014/main" id="{478B6902-15FF-0441-85D0-000E3692DC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157" y="3554969"/>
            <a:ext cx="5768023" cy="2836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EB1016F-B835-AC4D-83BB-8EC6B867EFC9}"/>
              </a:ext>
            </a:extLst>
          </p:cNvPr>
          <p:cNvSpPr txBox="1"/>
          <p:nvPr/>
        </p:nvSpPr>
        <p:spPr>
          <a:xfrm>
            <a:off x="6050478" y="2569717"/>
            <a:ext cx="293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“Non-informative” priors can sometimes be quite informative…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7BE855-8A7D-534B-AC27-A5493E1CF892}"/>
              </a:ext>
            </a:extLst>
          </p:cNvPr>
          <p:cNvSpPr/>
          <p:nvPr/>
        </p:nvSpPr>
        <p:spPr>
          <a:xfrm>
            <a:off x="1670180" y="2089315"/>
            <a:ext cx="4591647" cy="103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8DFF88-AE9E-9947-8DC1-CC3C9580E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827" y="2328417"/>
            <a:ext cx="3479800" cy="482600"/>
          </a:xfrm>
          <a:prstGeom prst="rect">
            <a:avLst/>
          </a:prstGeom>
        </p:spPr>
      </p:pic>
      <p:pic>
        <p:nvPicPr>
          <p:cNvPr id="36" name="Picture 35" descr="Chart, histogram&#10;&#10;Description automatically generated">
            <a:extLst>
              <a:ext uri="{FF2B5EF4-FFF2-40B4-BE49-F238E27FC236}">
                <a16:creationId xmlns:a16="http://schemas.microsoft.com/office/drawing/2014/main" id="{F69A60D8-C926-354C-966B-408A058F37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3156" y="3555584"/>
            <a:ext cx="5768024" cy="2836034"/>
          </a:xfrm>
          <a:prstGeom prst="rect">
            <a:avLst/>
          </a:prstGeom>
        </p:spPr>
      </p:pic>
      <p:sp>
        <p:nvSpPr>
          <p:cNvPr id="35" name="Smiley Face 34">
            <a:extLst>
              <a:ext uri="{FF2B5EF4-FFF2-40B4-BE49-F238E27FC236}">
                <a16:creationId xmlns:a16="http://schemas.microsoft.com/office/drawing/2014/main" id="{1234D73B-B78A-904D-9258-6200CCB28F8C}"/>
              </a:ext>
            </a:extLst>
          </p:cNvPr>
          <p:cNvSpPr/>
          <p:nvPr/>
        </p:nvSpPr>
        <p:spPr>
          <a:xfrm>
            <a:off x="3886358" y="3581105"/>
            <a:ext cx="2510921" cy="2510921"/>
          </a:xfrm>
          <a:prstGeom prst="smileyFace">
            <a:avLst/>
          </a:prstGeom>
          <a:solidFill>
            <a:srgbClr val="FFC000">
              <a:alpha val="80392"/>
            </a:srgb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1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28" grpId="1"/>
      <p:bldP spid="31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776DD8A-69DA-A24D-9959-7FCBF606E7BF}"/>
              </a:ext>
            </a:extLst>
          </p:cNvPr>
          <p:cNvSpPr txBox="1"/>
          <p:nvPr/>
        </p:nvSpPr>
        <p:spPr>
          <a:xfrm>
            <a:off x="3760445" y="3385280"/>
            <a:ext cx="36968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Prior Predictions</a:t>
            </a:r>
          </a:p>
        </p:txBody>
      </p:sp>
      <p:pic>
        <p:nvPicPr>
          <p:cNvPr id="42" name="Picture 41" descr="Chart, histogram&#10;&#10;Description automatically generated">
            <a:extLst>
              <a:ext uri="{FF2B5EF4-FFF2-40B4-BE49-F238E27FC236}">
                <a16:creationId xmlns:a16="http://schemas.microsoft.com/office/drawing/2014/main" id="{8B9887F0-2549-B640-B006-CB55C8E80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39" y="3732245"/>
            <a:ext cx="5741960" cy="2823219"/>
          </a:xfrm>
          <a:prstGeom prst="rect">
            <a:avLst/>
          </a:prstGeom>
        </p:spPr>
      </p:pic>
      <p:pic>
        <p:nvPicPr>
          <p:cNvPr id="43" name="Picture 42" descr="Chart, histogram&#10;&#10;Description automatically generated">
            <a:extLst>
              <a:ext uri="{FF2B5EF4-FFF2-40B4-BE49-F238E27FC236}">
                <a16:creationId xmlns:a16="http://schemas.microsoft.com/office/drawing/2014/main" id="{41F8FDAF-0420-8546-A67F-F6B3D73DE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239" y="3732035"/>
            <a:ext cx="5741960" cy="282321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22B359D-2770-2F4D-A5EA-7AD5E8A7E005}"/>
              </a:ext>
            </a:extLst>
          </p:cNvPr>
          <p:cNvSpPr txBox="1"/>
          <p:nvPr/>
        </p:nvSpPr>
        <p:spPr>
          <a:xfrm>
            <a:off x="3760444" y="3380616"/>
            <a:ext cx="36968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Posterior Predictions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0240FE-72B8-714A-92AD-4831B6A8C547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Bayesian updating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D3BAB-AF14-5749-94D5-388AA1BA6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827" y="2328417"/>
            <a:ext cx="40640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5B1D2-2966-7A47-9652-42EF0AABA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743" y="1619415"/>
            <a:ext cx="3797300" cy="4699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6EE19E-B471-BD40-8753-4653A150ED1D}"/>
              </a:ext>
            </a:extLst>
          </p:cNvPr>
          <p:cNvSpPr/>
          <p:nvPr/>
        </p:nvSpPr>
        <p:spPr>
          <a:xfrm>
            <a:off x="2015412" y="2164702"/>
            <a:ext cx="4721290" cy="7744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C6B45-CEA2-564A-9FC2-2C2139C5B7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827" y="2328417"/>
            <a:ext cx="3708400" cy="4826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87BE855-8A7D-534B-AC27-A5493E1CF892}"/>
              </a:ext>
            </a:extLst>
          </p:cNvPr>
          <p:cNvSpPr/>
          <p:nvPr/>
        </p:nvSpPr>
        <p:spPr>
          <a:xfrm>
            <a:off x="1670180" y="2089315"/>
            <a:ext cx="4591647" cy="103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8DFF88-AE9E-9947-8DC1-CC3C9580E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827" y="2328417"/>
            <a:ext cx="3479800" cy="482600"/>
          </a:xfrm>
          <a:prstGeom prst="rect">
            <a:avLst/>
          </a:prstGeom>
        </p:spPr>
      </p:pic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1C43362-B95D-414B-9546-4F3E284EA6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200" y="3611448"/>
            <a:ext cx="2847550" cy="2943806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495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988BD3AB-B4FB-9D45-87A0-FFE3054A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925" y="3018244"/>
            <a:ext cx="5580604" cy="3697295"/>
          </a:xfrm>
          <a:prstGeom prst="rect">
            <a:avLst/>
          </a:prstGeom>
        </p:spPr>
      </p:pic>
      <p:pic>
        <p:nvPicPr>
          <p:cNvPr id="23" name="Picture 22" descr="Chart&#10;&#10;Description automatically generated">
            <a:extLst>
              <a:ext uri="{FF2B5EF4-FFF2-40B4-BE49-F238E27FC236}">
                <a16:creationId xmlns:a16="http://schemas.microsoft.com/office/drawing/2014/main" id="{D821E771-825A-5845-8FC3-4B66CC043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925" y="3018244"/>
            <a:ext cx="5580605" cy="3697295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0240FE-72B8-714A-92AD-4831B6A8C547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Interpreting parameters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D3BAB-AF14-5749-94D5-388AA1BA6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827" y="2328417"/>
            <a:ext cx="40640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5B1D2-2966-7A47-9652-42EF0AABA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743" y="1619415"/>
            <a:ext cx="3797300" cy="4699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6EE19E-B471-BD40-8753-4653A150ED1D}"/>
              </a:ext>
            </a:extLst>
          </p:cNvPr>
          <p:cNvSpPr/>
          <p:nvPr/>
        </p:nvSpPr>
        <p:spPr>
          <a:xfrm>
            <a:off x="2015412" y="2164702"/>
            <a:ext cx="4721290" cy="7744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C6B45-CEA2-564A-9FC2-2C2139C5B7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827" y="2328417"/>
            <a:ext cx="3708400" cy="4826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87BE855-8A7D-534B-AC27-A5493E1CF892}"/>
              </a:ext>
            </a:extLst>
          </p:cNvPr>
          <p:cNvSpPr/>
          <p:nvPr/>
        </p:nvSpPr>
        <p:spPr>
          <a:xfrm>
            <a:off x="1670180" y="2089315"/>
            <a:ext cx="4591647" cy="103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8DFF88-AE9E-9947-8DC1-CC3C9580E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827" y="2328417"/>
            <a:ext cx="3479800" cy="482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43C3A6-0B37-514D-A02C-A88679E8596B}"/>
                  </a:ext>
                </a:extLst>
              </p:cNvPr>
              <p:cNvSpPr txBox="1"/>
              <p:nvPr/>
            </p:nvSpPr>
            <p:spPr>
              <a:xfrm>
                <a:off x="119121" y="3418237"/>
                <a:ext cx="2858377" cy="1517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=.5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≠.5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br>
                  <a:rPr lang="en-US" sz="2400" b="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      =2.23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43C3A6-0B37-514D-A02C-A88679E85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1" y="3418237"/>
                <a:ext cx="2858377" cy="1517788"/>
              </a:xfrm>
              <a:prstGeom prst="rect">
                <a:avLst/>
              </a:prstGeom>
              <a:blipFill>
                <a:blip r:embed="rId9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A143E43-06D5-A94D-B8BF-B7E19C12E2C2}"/>
              </a:ext>
            </a:extLst>
          </p:cNvPr>
          <p:cNvSpPr txBox="1"/>
          <p:nvPr/>
        </p:nvSpPr>
        <p:spPr>
          <a:xfrm>
            <a:off x="6117518" y="2508330"/>
            <a:ext cx="2858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Savage-Dickey Density Ratio for computing Bayes Factor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8A9240-DF89-C043-B608-024D731B86B8}"/>
              </a:ext>
            </a:extLst>
          </p:cNvPr>
          <p:cNvSpPr/>
          <p:nvPr/>
        </p:nvSpPr>
        <p:spPr>
          <a:xfrm>
            <a:off x="1490557" y="4464764"/>
            <a:ext cx="213113" cy="213113"/>
          </a:xfrm>
          <a:prstGeom prst="ellipse">
            <a:avLst/>
          </a:prstGeom>
          <a:solidFill>
            <a:srgbClr val="B88886"/>
          </a:solidFill>
          <a:ln>
            <a:solidFill>
              <a:srgbClr val="7D1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6442693-A641-0B4E-ADAC-E88337B8F43C}"/>
              </a:ext>
            </a:extLst>
          </p:cNvPr>
          <p:cNvSpPr/>
          <p:nvPr/>
        </p:nvSpPr>
        <p:spPr>
          <a:xfrm>
            <a:off x="1490557" y="4795016"/>
            <a:ext cx="213113" cy="213113"/>
          </a:xfrm>
          <a:prstGeom prst="ellipse">
            <a:avLst/>
          </a:prstGeom>
          <a:solidFill>
            <a:srgbClr val="D5D6D6"/>
          </a:solidFill>
          <a:ln>
            <a:solidFill>
              <a:srgbClr val="6666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D8BDBC-3C86-6D4D-8622-125D1C9331C5}"/>
              </a:ext>
            </a:extLst>
          </p:cNvPr>
          <p:cNvCxnSpPr/>
          <p:nvPr/>
        </p:nvCxnSpPr>
        <p:spPr>
          <a:xfrm>
            <a:off x="1370438" y="4726002"/>
            <a:ext cx="43449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C5C38A9E-E43A-F440-9E8E-4B85FC72ADED}"/>
              </a:ext>
            </a:extLst>
          </p:cNvPr>
          <p:cNvSpPr/>
          <p:nvPr/>
        </p:nvSpPr>
        <p:spPr>
          <a:xfrm>
            <a:off x="5954353" y="4726004"/>
            <a:ext cx="143763" cy="596766"/>
          </a:xfrm>
          <a:prstGeom prst="leftBrac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7E5360-3998-274C-B33D-4ABB0EFD88EA}"/>
                  </a:ext>
                </a:extLst>
              </p:cNvPr>
              <p:cNvSpPr txBox="1"/>
              <p:nvPr/>
            </p:nvSpPr>
            <p:spPr>
              <a:xfrm>
                <a:off x="119120" y="5508069"/>
                <a:ext cx="28583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Data are ~2x more likely under the null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=.5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relative to our expectation before observing data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7E5360-3998-274C-B33D-4ABB0EFD8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0" y="5508069"/>
                <a:ext cx="2858377" cy="1200329"/>
              </a:xfrm>
              <a:prstGeom prst="rect">
                <a:avLst/>
              </a:prstGeom>
              <a:blipFill>
                <a:blip r:embed="rId10"/>
                <a:stretch>
                  <a:fillRect l="-885" t="-2105" r="-265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34F0D9F1-A477-7D49-8229-23C51A364A2F}"/>
              </a:ext>
            </a:extLst>
          </p:cNvPr>
          <p:cNvSpPr/>
          <p:nvPr/>
        </p:nvSpPr>
        <p:spPr>
          <a:xfrm>
            <a:off x="1874770" y="4321742"/>
            <a:ext cx="961790" cy="8339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168A728-0DD4-3B45-ACDF-B61F10D9C65B}"/>
              </a:ext>
            </a:extLst>
          </p:cNvPr>
          <p:cNvSpPr/>
          <p:nvPr/>
        </p:nvSpPr>
        <p:spPr>
          <a:xfrm>
            <a:off x="1886552" y="4841507"/>
            <a:ext cx="4071486" cy="628302"/>
          </a:xfrm>
          <a:custGeom>
            <a:avLst/>
            <a:gdLst>
              <a:gd name="connsiteX0" fmla="*/ 4071486 w 4071486"/>
              <a:gd name="connsiteY0" fmla="*/ 182880 h 628302"/>
              <a:gd name="connsiteX1" fmla="*/ 2098307 w 4071486"/>
              <a:gd name="connsiteY1" fmla="*/ 625642 h 628302"/>
              <a:gd name="connsiteX2" fmla="*/ 0 w 4071486"/>
              <a:gd name="connsiteY2" fmla="*/ 0 h 62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1486" h="628302">
                <a:moveTo>
                  <a:pt x="4071486" y="182880"/>
                </a:moveTo>
                <a:cubicBezTo>
                  <a:pt x="3424187" y="419501"/>
                  <a:pt x="2776888" y="656122"/>
                  <a:pt x="2098307" y="625642"/>
                </a:cubicBezTo>
                <a:cubicBezTo>
                  <a:pt x="1419726" y="595162"/>
                  <a:pt x="709863" y="297581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968D44-11D2-7E49-A211-E8231EF08CCB}"/>
              </a:ext>
            </a:extLst>
          </p:cNvPr>
          <p:cNvSpPr/>
          <p:nvPr/>
        </p:nvSpPr>
        <p:spPr>
          <a:xfrm>
            <a:off x="1010653" y="4321743"/>
            <a:ext cx="866273" cy="8339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Chart&#10;&#10;Description automatically generated">
            <a:extLst>
              <a:ext uri="{FF2B5EF4-FFF2-40B4-BE49-F238E27FC236}">
                <a16:creationId xmlns:a16="http://schemas.microsoft.com/office/drawing/2014/main" id="{26A48961-BCDB-874F-B35D-5705632F6D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0742" y="3018244"/>
            <a:ext cx="5580604" cy="36972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1EBC351-0659-B74B-AE97-7A88E202BA85}"/>
              </a:ext>
            </a:extLst>
          </p:cNvPr>
          <p:cNvSpPr txBox="1"/>
          <p:nvPr/>
        </p:nvSpPr>
        <p:spPr>
          <a:xfrm>
            <a:off x="3922295" y="3363041"/>
            <a:ext cx="1722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Highest density interval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5E53E44C-1C3B-5845-9FC2-6305993402C7}"/>
              </a:ext>
            </a:extLst>
          </p:cNvPr>
          <p:cNvSpPr/>
          <p:nvPr/>
        </p:nvSpPr>
        <p:spPr>
          <a:xfrm>
            <a:off x="4487746" y="3965608"/>
            <a:ext cx="1056406" cy="1713297"/>
          </a:xfrm>
          <a:custGeom>
            <a:avLst/>
            <a:gdLst>
              <a:gd name="connsiteX0" fmla="*/ 267134 w 1056406"/>
              <a:gd name="connsiteY0" fmla="*/ 0 h 1713297"/>
              <a:gd name="connsiteX1" fmla="*/ 45753 w 1056406"/>
              <a:gd name="connsiteY1" fmla="*/ 567891 h 1713297"/>
              <a:gd name="connsiteX2" fmla="*/ 1056406 w 1056406"/>
              <a:gd name="connsiteY2" fmla="*/ 1713297 h 1713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6406" h="1713297">
                <a:moveTo>
                  <a:pt x="267134" y="0"/>
                </a:moveTo>
                <a:cubicBezTo>
                  <a:pt x="90671" y="141171"/>
                  <a:pt x="-85792" y="282342"/>
                  <a:pt x="45753" y="567891"/>
                </a:cubicBezTo>
                <a:cubicBezTo>
                  <a:pt x="177298" y="853441"/>
                  <a:pt x="616852" y="1283369"/>
                  <a:pt x="1056406" y="1713297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979F9D-16E1-B342-BF2A-90510034D610}"/>
              </a:ext>
            </a:extLst>
          </p:cNvPr>
          <p:cNvSpPr txBox="1"/>
          <p:nvPr/>
        </p:nvSpPr>
        <p:spPr>
          <a:xfrm>
            <a:off x="205435" y="3859839"/>
            <a:ext cx="27053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An X% HDI contains X% of the mass of the distribution, where every point inside is more probable than any point outside</a:t>
            </a:r>
          </a:p>
        </p:txBody>
      </p:sp>
    </p:spTree>
    <p:extLst>
      <p:ext uri="{BB962C8B-B14F-4D97-AF65-F5344CB8AC3E}">
        <p14:creationId xmlns:p14="http://schemas.microsoft.com/office/powerpoint/2010/main" val="254934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7" grpId="0"/>
      <p:bldP spid="17" grpId="1"/>
      <p:bldP spid="13" grpId="0" animBg="1"/>
      <p:bldP spid="27" grpId="0" animBg="1"/>
      <p:bldP spid="16" grpId="0" animBg="1"/>
      <p:bldP spid="16" grpId="1" animBg="1"/>
      <p:bldP spid="30" grpId="0"/>
      <p:bldP spid="30" grpId="1"/>
      <p:bldP spid="32" grpId="0" animBg="1"/>
      <p:bldP spid="19" grpId="0" animBg="1"/>
      <p:bldP spid="19" grpId="1" animBg="1"/>
      <p:bldP spid="20" grpId="0" animBg="1"/>
      <p:bldP spid="21" grpId="0"/>
      <p:bldP spid="35" grpId="0" animBg="1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0240FE-72B8-714A-92AD-4831B6A8C547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Multiple participants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D3BAB-AF14-5749-94D5-388AA1BA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827" y="2328417"/>
            <a:ext cx="40640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5B1D2-2966-7A47-9652-42EF0AABA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743" y="1619415"/>
            <a:ext cx="3797300" cy="4699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6EE19E-B471-BD40-8753-4653A150ED1D}"/>
              </a:ext>
            </a:extLst>
          </p:cNvPr>
          <p:cNvSpPr/>
          <p:nvPr/>
        </p:nvSpPr>
        <p:spPr>
          <a:xfrm>
            <a:off x="2015412" y="2164702"/>
            <a:ext cx="4721290" cy="7744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C6B45-CEA2-564A-9FC2-2C2139C5B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827" y="2328417"/>
            <a:ext cx="3708400" cy="4826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87BE855-8A7D-534B-AC27-A5493E1CF892}"/>
              </a:ext>
            </a:extLst>
          </p:cNvPr>
          <p:cNvSpPr/>
          <p:nvPr/>
        </p:nvSpPr>
        <p:spPr>
          <a:xfrm>
            <a:off x="1670180" y="2089315"/>
            <a:ext cx="4591647" cy="103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8DFF88-AE9E-9947-8DC1-CC3C9580E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827" y="2328417"/>
            <a:ext cx="3479800" cy="482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0EF241-0750-DA4C-82C7-9EF02F8B98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334" y="1619415"/>
            <a:ext cx="4178300" cy="482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2CFFEB-2402-354E-B24C-4B59F8EA6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5427" y="2331684"/>
            <a:ext cx="3632200" cy="4826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97DA4-729C-0F42-B9E3-1694CBAE843B}"/>
              </a:ext>
            </a:extLst>
          </p:cNvPr>
          <p:cNvGrpSpPr/>
          <p:nvPr/>
        </p:nvGrpSpPr>
        <p:grpSpPr>
          <a:xfrm>
            <a:off x="1254957" y="3053351"/>
            <a:ext cx="7208638" cy="3692513"/>
            <a:chOff x="1254957" y="3053351"/>
            <a:chExt cx="7208638" cy="369251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412D033-D0CC-EF49-B2B6-17C750AD5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54957" y="3256000"/>
              <a:ext cx="6634086" cy="348986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40AC49-798C-4442-8EC9-0A1D2DE98E8A}"/>
                </a:ext>
              </a:extLst>
            </p:cNvPr>
            <p:cNvSpPr txBox="1"/>
            <p:nvPr/>
          </p:nvSpPr>
          <p:spPr>
            <a:xfrm>
              <a:off x="7292051" y="4512506"/>
              <a:ext cx="114910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Observed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0B6CAF-B303-F740-A529-1CE824A70797}"/>
                </a:ext>
              </a:extLst>
            </p:cNvPr>
            <p:cNvSpPr txBox="1"/>
            <p:nvPr/>
          </p:nvSpPr>
          <p:spPr>
            <a:xfrm>
              <a:off x="7314491" y="4789505"/>
              <a:ext cx="114910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Simulated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C322D1-B6A3-2346-AB7F-6196175ED574}"/>
                </a:ext>
              </a:extLst>
            </p:cNvPr>
            <p:cNvSpPr txBox="1"/>
            <p:nvPr/>
          </p:nvSpPr>
          <p:spPr>
            <a:xfrm>
              <a:off x="2492224" y="3053351"/>
              <a:ext cx="369686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Prior Predictions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33B70A-61DF-0D47-9712-990AAD2EF668}"/>
              </a:ext>
            </a:extLst>
          </p:cNvPr>
          <p:cNvGrpSpPr/>
          <p:nvPr/>
        </p:nvGrpSpPr>
        <p:grpSpPr>
          <a:xfrm>
            <a:off x="1254957" y="3053350"/>
            <a:ext cx="5617068" cy="3692514"/>
            <a:chOff x="1254957" y="3053350"/>
            <a:chExt cx="5617068" cy="369251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3BDE606-0441-9243-BE3E-338DA7BD27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15330"/>
            <a:stretch/>
          </p:blipFill>
          <p:spPr>
            <a:xfrm>
              <a:off x="1254957" y="3256000"/>
              <a:ext cx="5617068" cy="348986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C0083C-0555-ED4F-BE73-08293A5C2004}"/>
                </a:ext>
              </a:extLst>
            </p:cNvPr>
            <p:cNvSpPr txBox="1"/>
            <p:nvPr/>
          </p:nvSpPr>
          <p:spPr>
            <a:xfrm>
              <a:off x="2419490" y="3053350"/>
              <a:ext cx="369686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Posterior Predictions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57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0240FE-72B8-714A-92AD-4831B6A8C547}"/>
              </a:ext>
            </a:extLst>
          </p:cNvPr>
          <p:cNvSpPr txBox="1">
            <a:spLocks/>
          </p:cNvSpPr>
          <p:nvPr/>
        </p:nvSpPr>
        <p:spPr>
          <a:xfrm>
            <a:off x="302820" y="274638"/>
            <a:ext cx="8686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457200" lvl="1" defTabSz="914400"/>
            <a:r>
              <a:rPr lang="en-US" sz="3600" b="1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Estimating group differences</a:t>
            </a:r>
            <a:endParaRPr lang="en-US" sz="36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D3BAB-AF14-5749-94D5-388AA1BA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827" y="2328417"/>
            <a:ext cx="40640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5B1D2-2966-7A47-9652-42EF0AABA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743" y="1619415"/>
            <a:ext cx="3797300" cy="4699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6EE19E-B471-BD40-8753-4653A150ED1D}"/>
              </a:ext>
            </a:extLst>
          </p:cNvPr>
          <p:cNvSpPr/>
          <p:nvPr/>
        </p:nvSpPr>
        <p:spPr>
          <a:xfrm>
            <a:off x="2015412" y="2164702"/>
            <a:ext cx="4721290" cy="7744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C6B45-CEA2-564A-9FC2-2C2139C5B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827" y="2328417"/>
            <a:ext cx="3708400" cy="4826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87BE855-8A7D-534B-AC27-A5493E1CF892}"/>
              </a:ext>
            </a:extLst>
          </p:cNvPr>
          <p:cNvSpPr/>
          <p:nvPr/>
        </p:nvSpPr>
        <p:spPr>
          <a:xfrm>
            <a:off x="1670180" y="2089315"/>
            <a:ext cx="4591647" cy="103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8DFF88-AE9E-9947-8DC1-CC3C9580E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827" y="2328417"/>
            <a:ext cx="3479800" cy="482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0EF241-0750-DA4C-82C7-9EF02F8B98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334" y="1619415"/>
            <a:ext cx="4178300" cy="482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2CFFEB-2402-354E-B24C-4B59F8EA6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5427" y="2331684"/>
            <a:ext cx="3632200" cy="482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6D1497-7599-3641-A7C9-B31F900E9354}"/>
              </a:ext>
            </a:extLst>
          </p:cNvPr>
          <p:cNvSpPr txBox="1"/>
          <p:nvPr/>
        </p:nvSpPr>
        <p:spPr>
          <a:xfrm>
            <a:off x="123414" y="3001830"/>
            <a:ext cx="285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prior now functions as a group-level model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39C02AA-905E-CA46-8413-D0F2150157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5427" y="2329393"/>
            <a:ext cx="3886200" cy="4826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815012-91B6-E945-A37A-175B4CCFE5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0720" y="3107331"/>
            <a:ext cx="4457700" cy="4445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1FE1D45B-F06A-8643-A563-B089096180FB}"/>
              </a:ext>
            </a:extLst>
          </p:cNvPr>
          <p:cNvSpPr/>
          <p:nvPr/>
        </p:nvSpPr>
        <p:spPr>
          <a:xfrm>
            <a:off x="3427598" y="2793688"/>
            <a:ext cx="1649285" cy="314150"/>
          </a:xfrm>
          <a:custGeom>
            <a:avLst/>
            <a:gdLst>
              <a:gd name="connsiteX0" fmla="*/ 1649285 w 1649285"/>
              <a:gd name="connsiteY0" fmla="*/ 0 h 314150"/>
              <a:gd name="connsiteX1" fmla="*/ 1447332 w 1649285"/>
              <a:gd name="connsiteY1" fmla="*/ 157075 h 314150"/>
              <a:gd name="connsiteX2" fmla="*/ 656348 w 1649285"/>
              <a:gd name="connsiteY2" fmla="*/ 145856 h 314150"/>
              <a:gd name="connsiteX3" fmla="*/ 173904 w 1649285"/>
              <a:gd name="connsiteY3" fmla="*/ 173905 h 314150"/>
              <a:gd name="connsiteX4" fmla="*/ 0 w 1649285"/>
              <a:gd name="connsiteY4" fmla="*/ 314150 h 31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9285" h="314150">
                <a:moveTo>
                  <a:pt x="1649285" y="0"/>
                </a:moveTo>
                <a:cubicBezTo>
                  <a:pt x="1631053" y="66383"/>
                  <a:pt x="1612821" y="132766"/>
                  <a:pt x="1447332" y="157075"/>
                </a:cubicBezTo>
                <a:cubicBezTo>
                  <a:pt x="1281842" y="181384"/>
                  <a:pt x="868586" y="143051"/>
                  <a:pt x="656348" y="145856"/>
                </a:cubicBezTo>
                <a:cubicBezTo>
                  <a:pt x="444110" y="148661"/>
                  <a:pt x="283295" y="145856"/>
                  <a:pt x="173904" y="173905"/>
                </a:cubicBezTo>
                <a:cubicBezTo>
                  <a:pt x="64513" y="201954"/>
                  <a:pt x="32256" y="258052"/>
                  <a:pt x="0" y="31415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847ECB-2E61-7444-9329-F919485D89C2}"/>
              </a:ext>
            </a:extLst>
          </p:cNvPr>
          <p:cNvSpPr txBox="1"/>
          <p:nvPr/>
        </p:nvSpPr>
        <p:spPr>
          <a:xfrm>
            <a:off x="6346430" y="3752782"/>
            <a:ext cx="285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= control</a:t>
            </a:r>
          </a:p>
          <a:p>
            <a:r>
              <a: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= substance use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A56345B-D0B3-8B49-9E60-7C0FC69EFF16}"/>
              </a:ext>
            </a:extLst>
          </p:cNvPr>
          <p:cNvSpPr/>
          <p:nvPr/>
        </p:nvSpPr>
        <p:spPr>
          <a:xfrm rot="5400000">
            <a:off x="6841109" y="3096485"/>
            <a:ext cx="242175" cy="1082694"/>
          </a:xfrm>
          <a:prstGeom prst="leftBrac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297406-4B4C-D343-9B9E-71BD85842B2B}"/>
              </a:ext>
            </a:extLst>
          </p:cNvPr>
          <p:cNvGrpSpPr/>
          <p:nvPr/>
        </p:nvGrpSpPr>
        <p:grpSpPr>
          <a:xfrm>
            <a:off x="3332232" y="3573453"/>
            <a:ext cx="2858377" cy="1243013"/>
            <a:chOff x="3332232" y="3573453"/>
            <a:chExt cx="2858377" cy="124301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59D491-3103-C945-9D34-778311B17EDD}"/>
                </a:ext>
              </a:extLst>
            </p:cNvPr>
            <p:cNvSpPr txBox="1"/>
            <p:nvPr/>
          </p:nvSpPr>
          <p:spPr>
            <a:xfrm>
              <a:off x="3332232" y="4447134"/>
              <a:ext cx="2858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beta weights!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6458EFC-9936-5040-B921-ABC5008387D9}"/>
                </a:ext>
              </a:extLst>
            </p:cNvPr>
            <p:cNvSpPr/>
            <p:nvPr/>
          </p:nvSpPr>
          <p:spPr>
            <a:xfrm>
              <a:off x="4501353" y="3573453"/>
              <a:ext cx="266991" cy="875131"/>
            </a:xfrm>
            <a:custGeom>
              <a:avLst/>
              <a:gdLst>
                <a:gd name="connsiteX0" fmla="*/ 266991 w 266991"/>
                <a:gd name="connsiteY0" fmla="*/ 875131 h 875131"/>
                <a:gd name="connsiteX1" fmla="*/ 36988 w 266991"/>
                <a:gd name="connsiteY1" fmla="*/ 431956 h 875131"/>
                <a:gd name="connsiteX2" fmla="*/ 3329 w 266991"/>
                <a:gd name="connsiteY2" fmla="*/ 0 h 87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991" h="875131">
                  <a:moveTo>
                    <a:pt x="266991" y="875131"/>
                  </a:moveTo>
                  <a:cubicBezTo>
                    <a:pt x="173961" y="726471"/>
                    <a:pt x="80932" y="577811"/>
                    <a:pt x="36988" y="431956"/>
                  </a:cubicBezTo>
                  <a:cubicBezTo>
                    <a:pt x="-6956" y="286101"/>
                    <a:pt x="-1814" y="143050"/>
                    <a:pt x="3329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197AC01-957D-FE4E-95E8-6A44059CC6B0}"/>
                </a:ext>
              </a:extLst>
            </p:cNvPr>
            <p:cNvSpPr/>
            <p:nvPr/>
          </p:nvSpPr>
          <p:spPr>
            <a:xfrm>
              <a:off x="4773953" y="3573453"/>
              <a:ext cx="712505" cy="875131"/>
            </a:xfrm>
            <a:custGeom>
              <a:avLst/>
              <a:gdLst>
                <a:gd name="connsiteX0" fmla="*/ 0 w 712505"/>
                <a:gd name="connsiteY0" fmla="*/ 875131 h 875131"/>
                <a:gd name="connsiteX1" fmla="*/ 594641 w 712505"/>
                <a:gd name="connsiteY1" fmla="*/ 398297 h 875131"/>
                <a:gd name="connsiteX2" fmla="*/ 712447 w 712505"/>
                <a:gd name="connsiteY2" fmla="*/ 0 h 87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2505" h="875131">
                  <a:moveTo>
                    <a:pt x="0" y="875131"/>
                  </a:moveTo>
                  <a:cubicBezTo>
                    <a:pt x="237950" y="709641"/>
                    <a:pt x="475900" y="544152"/>
                    <a:pt x="594641" y="398297"/>
                  </a:cubicBezTo>
                  <a:cubicBezTo>
                    <a:pt x="713382" y="252442"/>
                    <a:pt x="712914" y="126221"/>
                    <a:pt x="712447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AC3BA7E-2EF8-314F-AE3E-C2B7015B1E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8217" y="3791154"/>
            <a:ext cx="2476500" cy="482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1B51EA-392D-2B4A-8A6D-8ED0FAA2FE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5213" y="4520432"/>
            <a:ext cx="2603500" cy="4826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CEC6DDF-112B-9C43-A044-C3385C9DF6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58917" y="5232881"/>
            <a:ext cx="3225800" cy="4826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847FD8D-89D7-9A41-B641-FD125F8FC911}"/>
              </a:ext>
            </a:extLst>
          </p:cNvPr>
          <p:cNvSpPr txBox="1"/>
          <p:nvPr/>
        </p:nvSpPr>
        <p:spPr>
          <a:xfrm>
            <a:off x="933951" y="5962159"/>
            <a:ext cx="7460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hierarchical Bayesian analysis!</a:t>
            </a: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393997EA-0941-1744-90D8-A52221AAD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953" y="3595655"/>
            <a:ext cx="6350190" cy="323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59C1044-72AA-C249-A7F3-DED9C1BBA358}"/>
              </a:ext>
            </a:extLst>
          </p:cNvPr>
          <p:cNvSpPr txBox="1"/>
          <p:nvPr/>
        </p:nvSpPr>
        <p:spPr>
          <a:xfrm>
            <a:off x="2318704" y="3592716"/>
            <a:ext cx="36968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Prior Predictions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CD486A6A-1018-FC4F-A2BB-71F73AD0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713" y="3600891"/>
            <a:ext cx="6346430" cy="323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18FB94F-9C8B-DE40-B4E1-B7F5717598A4}"/>
              </a:ext>
            </a:extLst>
          </p:cNvPr>
          <p:cNvSpPr txBox="1"/>
          <p:nvPr/>
        </p:nvSpPr>
        <p:spPr>
          <a:xfrm>
            <a:off x="2281285" y="3587964"/>
            <a:ext cx="36968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Posterior Predictions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D6241E-E83A-3242-B0DE-E92CFD863F66}"/>
              </a:ext>
            </a:extLst>
          </p:cNvPr>
          <p:cNvSpPr txBox="1"/>
          <p:nvPr/>
        </p:nvSpPr>
        <p:spPr>
          <a:xfrm>
            <a:off x="7039646" y="4737190"/>
            <a:ext cx="114910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Observed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71C1FF-543B-774C-8349-ABC73F04528B}"/>
              </a:ext>
            </a:extLst>
          </p:cNvPr>
          <p:cNvSpPr txBox="1"/>
          <p:nvPr/>
        </p:nvSpPr>
        <p:spPr>
          <a:xfrm>
            <a:off x="7062086" y="5014189"/>
            <a:ext cx="114910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Simulated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1AE3B25-71B0-FD4F-A4C3-6E92D4DE8A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5562" y="3673149"/>
            <a:ext cx="7752876" cy="31011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A68367E-EDAF-1D43-A43E-4B0155C6001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562" y="3676253"/>
            <a:ext cx="7752876" cy="310115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AFDA0BF-6093-944B-A108-952292EEC55A}"/>
              </a:ext>
            </a:extLst>
          </p:cNvPr>
          <p:cNvSpPr txBox="1"/>
          <p:nvPr/>
        </p:nvSpPr>
        <p:spPr>
          <a:xfrm>
            <a:off x="1656669" y="4448758"/>
            <a:ext cx="1124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95% HDI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[-.32, -.02]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4D3098-43CB-1F47-940C-A18E193820CF}"/>
              </a:ext>
            </a:extLst>
          </p:cNvPr>
          <p:cNvSpPr txBox="1"/>
          <p:nvPr/>
        </p:nvSpPr>
        <p:spPr>
          <a:xfrm>
            <a:off x="5400913" y="4464448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95% HDI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[-.02, .41]</a:t>
            </a:r>
          </a:p>
        </p:txBody>
      </p:sp>
    </p:spTree>
    <p:extLst>
      <p:ext uri="{BB962C8B-B14F-4D97-AF65-F5344CB8AC3E}">
        <p14:creationId xmlns:p14="http://schemas.microsoft.com/office/powerpoint/2010/main" val="349136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6" grpId="0" animBg="1"/>
      <p:bldP spid="6" grpId="1" animBg="1"/>
      <p:bldP spid="30" grpId="0"/>
      <p:bldP spid="30" grpId="1"/>
      <p:bldP spid="30" grpId="2"/>
      <p:bldP spid="8" grpId="0" animBg="1"/>
      <p:bldP spid="8" grpId="1" animBg="1"/>
      <p:bldP spid="8" grpId="2" animBg="1"/>
      <p:bldP spid="37" grpId="0"/>
      <p:bldP spid="37" grpId="1"/>
      <p:bldP spid="40" grpId="0" animBg="1"/>
      <p:bldP spid="43" grpId="0" animBg="1"/>
      <p:bldP spid="41" grpId="0" animBg="1"/>
      <p:bldP spid="42" grpId="0" animBg="1"/>
      <p:bldP spid="48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: What have we learned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10" y="1471173"/>
            <a:ext cx="7996791" cy="54277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No convincing evidence of group-level mean difference between controls and those with substance use disorders</a:t>
            </a:r>
          </a:p>
          <a:p>
            <a:pPr>
              <a:buFont typeface="Wingdings" pitchFamily="2" charset="2"/>
              <a:buChar char="Ø"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Controls showed evidence for choosing the “good” decks more frequently than “bad” decks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Substance use group appeared to choose both about equally</a:t>
            </a:r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Lot’s of heterogeneity within groups!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p</a:t>
            </a:r>
            <a:r>
              <a:rPr lang="en-US" sz="2400" baseline="-25000" dirty="0"/>
              <a:t>i </a:t>
            </a:r>
            <a:r>
              <a:rPr lang="en-US" sz="2400" dirty="0"/>
              <a:t>varied a lot from person-to-person </a:t>
            </a:r>
          </a:p>
        </p:txBody>
      </p:sp>
    </p:spTree>
    <p:extLst>
      <p:ext uri="{BB962C8B-B14F-4D97-AF65-F5344CB8AC3E}">
        <p14:creationId xmlns:p14="http://schemas.microsoft.com/office/powerpoint/2010/main" val="16440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: Possible extensions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982" y="1417638"/>
            <a:ext cx="5135786" cy="542779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Different group-level SDs</a:t>
            </a:r>
          </a:p>
          <a:p>
            <a:pPr>
              <a:buFont typeface="Wingdings" pitchFamily="2" charset="2"/>
              <a:buChar char="Ø"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Learning effects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e.g., estimating change in p</a:t>
            </a:r>
            <a:r>
              <a:rPr lang="en-US" sz="2400" baseline="-25000" dirty="0">
                <a:solidFill>
                  <a:srgbClr val="C00000"/>
                </a:solidFill>
              </a:rPr>
              <a:t>i </a:t>
            </a:r>
            <a:r>
              <a:rPr lang="en-US" sz="2400" dirty="0">
                <a:solidFill>
                  <a:srgbClr val="C00000"/>
                </a:solidFill>
              </a:rPr>
              <a:t>across trials within persons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Going back to theory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If we believe impulsivity is normally distributed at the population level, perhaps individual differences analyses would be more fruitful than binary group comparisons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Estimate correlations between p</a:t>
            </a:r>
            <a:r>
              <a:rPr lang="en-US" sz="2000" baseline="-25000" dirty="0">
                <a:solidFill>
                  <a:srgbClr val="C00000"/>
                </a:solidFill>
              </a:rPr>
              <a:t>i </a:t>
            </a:r>
            <a:r>
              <a:rPr lang="en-US" sz="2000" dirty="0">
                <a:solidFill>
                  <a:srgbClr val="C00000"/>
                </a:solidFill>
              </a:rPr>
              <a:t>and impulsivity-related covariates (e.g., self-reports)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D67F66-5FC5-C143-BD97-40C147A2595D}"/>
              </a:ext>
            </a:extLst>
          </p:cNvPr>
          <p:cNvGrpSpPr/>
          <p:nvPr/>
        </p:nvGrpSpPr>
        <p:grpSpPr>
          <a:xfrm>
            <a:off x="5281533" y="1293888"/>
            <a:ext cx="3708088" cy="959278"/>
            <a:chOff x="5161031" y="1492211"/>
            <a:chExt cx="3708088" cy="9592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31D5A57-AB77-1A4D-AB49-37F62F936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3616" y="1643865"/>
              <a:ext cx="2302253" cy="27685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CBBCB4A-C2D1-8141-9BDA-0AE28A71F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37937" y="2038071"/>
              <a:ext cx="2469823" cy="25499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CC700E-6AE3-EC4F-81F8-034289D166C8}"/>
                </a:ext>
              </a:extLst>
            </p:cNvPr>
            <p:cNvSpPr/>
            <p:nvPr/>
          </p:nvSpPr>
          <p:spPr>
            <a:xfrm>
              <a:off x="5161031" y="1492211"/>
              <a:ext cx="3708088" cy="9592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1B23F9-CAFA-3147-95CC-0C32C2131EB6}"/>
              </a:ext>
            </a:extLst>
          </p:cNvPr>
          <p:cNvGrpSpPr/>
          <p:nvPr/>
        </p:nvGrpSpPr>
        <p:grpSpPr>
          <a:xfrm>
            <a:off x="5291251" y="2560638"/>
            <a:ext cx="3708088" cy="959278"/>
            <a:chOff x="5291251" y="2560638"/>
            <a:chExt cx="3708088" cy="95927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F7E8E3-D62A-164C-B0D3-F235D84EB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2394" y="3106945"/>
              <a:ext cx="2963676" cy="27712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625E0F5-F2E6-784E-8C14-3D57F61B6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91828" y="2731923"/>
              <a:ext cx="2302253" cy="2771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68B982-72C3-4A40-A80E-2F1788656787}"/>
                </a:ext>
              </a:extLst>
            </p:cNvPr>
            <p:cNvSpPr/>
            <p:nvPr/>
          </p:nvSpPr>
          <p:spPr>
            <a:xfrm>
              <a:off x="5291251" y="2560638"/>
              <a:ext cx="3708088" cy="9592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E50BED-44C4-3642-854A-83997E5A8692}"/>
              </a:ext>
            </a:extLst>
          </p:cNvPr>
          <p:cNvGrpSpPr/>
          <p:nvPr/>
        </p:nvGrpSpPr>
        <p:grpSpPr>
          <a:xfrm>
            <a:off x="5590401" y="4635012"/>
            <a:ext cx="3191376" cy="777446"/>
            <a:chOff x="5654694" y="4662916"/>
            <a:chExt cx="3191376" cy="77744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DD9935-8EE4-AB4C-AF92-5B0AB3F47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25314" y="4894496"/>
              <a:ext cx="2720760" cy="28818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5C31DD-554A-224F-9623-F11B44539779}"/>
                </a:ext>
              </a:extLst>
            </p:cNvPr>
            <p:cNvSpPr/>
            <p:nvPr/>
          </p:nvSpPr>
          <p:spPr>
            <a:xfrm>
              <a:off x="5654694" y="4662916"/>
              <a:ext cx="3191376" cy="777446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C08AFD-2302-794B-8361-3E37DCBFC76B}"/>
              </a:ext>
            </a:extLst>
          </p:cNvPr>
          <p:cNvCxnSpPr/>
          <p:nvPr/>
        </p:nvCxnSpPr>
        <p:spPr>
          <a:xfrm flipV="1">
            <a:off x="7988378" y="5154772"/>
            <a:ext cx="157075" cy="4999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562FF50-71E9-7942-B5F8-83E07D42E73C}"/>
              </a:ext>
            </a:extLst>
          </p:cNvPr>
          <p:cNvSpPr txBox="1"/>
          <p:nvPr/>
        </p:nvSpPr>
        <p:spPr>
          <a:xfrm>
            <a:off x="6840091" y="5621053"/>
            <a:ext cx="2159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Self-report measure of impulsivity</a:t>
            </a:r>
          </a:p>
        </p:txBody>
      </p:sp>
    </p:spTree>
    <p:extLst>
      <p:ext uri="{BB962C8B-B14F-4D97-AF65-F5344CB8AC3E}">
        <p14:creationId xmlns:p14="http://schemas.microsoft.com/office/powerpoint/2010/main" val="29353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tatistical Rethinking: A Bayesian Course with Examples in R and STAN by  Richard McElreath">
            <a:extLst>
              <a:ext uri="{FF2B5EF4-FFF2-40B4-BE49-F238E27FC236}">
                <a16:creationId xmlns:a16="http://schemas.microsoft.com/office/drawing/2014/main" id="{43328C1F-345F-A443-9CD2-0606DFDEA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7" r="16387"/>
          <a:stretch/>
        </p:blipFill>
        <p:spPr bwMode="auto">
          <a:xfrm>
            <a:off x="6041771" y="2004105"/>
            <a:ext cx="2754419" cy="410778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20" y="274638"/>
            <a:ext cx="8686801" cy="1143000"/>
          </a:xfrm>
        </p:spPr>
        <p:txBody>
          <a:bodyPr>
            <a:normAutofit/>
          </a:bodyPr>
          <a:lstStyle/>
          <a:p>
            <a:pPr marL="457200" lvl="1"/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Wrap up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5A0068-761B-4F49-95A8-AEE2E5E1E6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351BC7-6472-4F4C-9D23-CC94DD89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10" y="1471173"/>
            <a:ext cx="5494815" cy="542779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Bayesian data analysis forces us to think about the data-generating process</a:t>
            </a:r>
          </a:p>
          <a:p>
            <a:pPr>
              <a:buFont typeface="Wingdings" pitchFamily="2" charset="2"/>
              <a:buChar char="Ø"/>
            </a:pPr>
            <a:endParaRPr lang="en-US" sz="1800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We can construct models that better align with our theories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We can use our models to simulate data to better understand both: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Our statistical models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Implications of models for substantive theory</a:t>
            </a:r>
          </a:p>
        </p:txBody>
      </p:sp>
    </p:spTree>
    <p:extLst>
      <p:ext uri="{BB962C8B-B14F-4D97-AF65-F5344CB8AC3E}">
        <p14:creationId xmlns:p14="http://schemas.microsoft.com/office/powerpoint/2010/main" val="201310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24052</TotalTime>
  <Words>959</Words>
  <Application>Microsoft Macintosh PowerPoint</Application>
  <PresentationFormat>On-screen Show (4:3)</PresentationFormat>
  <Paragraphs>219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Gill Sans MT</vt:lpstr>
      <vt:lpstr>Latin Modern Math</vt:lpstr>
      <vt:lpstr>Wingdings</vt:lpstr>
      <vt:lpstr>Office Theme</vt:lpstr>
      <vt:lpstr>A Tutorial on Bayesian Data Analysis </vt:lpstr>
      <vt:lpstr>Outline</vt:lpstr>
      <vt:lpstr>To Follow Along</vt:lpstr>
      <vt:lpstr>Conceptual barriers</vt:lpstr>
      <vt:lpstr>What Bayesian Modeling is</vt:lpstr>
      <vt:lpstr>What Bayesian Modeling is</vt:lpstr>
      <vt:lpstr>The Bayesian Workflow</vt:lpstr>
      <vt:lpstr>Example: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What have we learned</vt:lpstr>
      <vt:lpstr>Example: Possible extensions</vt:lpstr>
      <vt:lpstr>Wrap up</vt:lpstr>
    </vt:vector>
  </TitlesOfParts>
  <Company>VTCRI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Woo-Young Ahn</dc:creator>
  <cp:lastModifiedBy>Haines, Nathaniel B.</cp:lastModifiedBy>
  <cp:revision>1221</cp:revision>
  <cp:lastPrinted>2015-09-24T18:21:01Z</cp:lastPrinted>
  <dcterms:created xsi:type="dcterms:W3CDTF">2015-03-10T20:41:13Z</dcterms:created>
  <dcterms:modified xsi:type="dcterms:W3CDTF">2021-04-02T15:58:37Z</dcterms:modified>
</cp:coreProperties>
</file>

<file path=[Content_Types].xml><?xml version="1.0" encoding="utf-8"?>
<Types xmlns="http://schemas.openxmlformats.org/package/2006/content-types">
  <Default Extension="emf" ContentType="image/x-emf"/>
  <Default Extension="m4a" ContentType="audi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544" r:id="rId3"/>
    <p:sldId id="575" r:id="rId4"/>
    <p:sldId id="590" r:id="rId5"/>
    <p:sldId id="633" r:id="rId6"/>
    <p:sldId id="527" r:id="rId7"/>
    <p:sldId id="648" r:id="rId8"/>
    <p:sldId id="661" r:id="rId9"/>
    <p:sldId id="664" r:id="rId10"/>
    <p:sldId id="663" r:id="rId11"/>
    <p:sldId id="665" r:id="rId12"/>
    <p:sldId id="530" r:id="rId13"/>
    <p:sldId id="531" r:id="rId14"/>
    <p:sldId id="535" r:id="rId15"/>
    <p:sldId id="666" r:id="rId16"/>
    <p:sldId id="536" r:id="rId17"/>
    <p:sldId id="537" r:id="rId18"/>
    <p:sldId id="569" r:id="rId19"/>
    <p:sldId id="509" r:id="rId20"/>
    <p:sldId id="589" r:id="rId21"/>
    <p:sldId id="532" r:id="rId22"/>
    <p:sldId id="533" r:id="rId23"/>
    <p:sldId id="570" r:id="rId24"/>
    <p:sldId id="534" r:id="rId25"/>
    <p:sldId id="54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smin Vassileva" initials="" lastIdx="16" clrIdx="0"/>
  <p:cmAuthor id="1" name="Woo-Young Ahn" initials="W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DA3D24"/>
    <a:srgbClr val="8F2727"/>
    <a:srgbClr val="D9D9D9"/>
    <a:srgbClr val="FFFFFF"/>
    <a:srgbClr val="B02418"/>
    <a:srgbClr val="1429A3"/>
    <a:srgbClr val="0432FF"/>
    <a:srgbClr val="FF2600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8"/>
    <p:restoredTop sz="88636" autoAdjust="0"/>
  </p:normalViewPr>
  <p:slideViewPr>
    <p:cSldViewPr snapToGrid="0" snapToObjects="1">
      <p:cViewPr>
        <p:scale>
          <a:sx n="112" d="100"/>
          <a:sy n="112" d="100"/>
        </p:scale>
        <p:origin x="1000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E8C14-582D-2A43-9D74-84AA0197ECF8}" type="datetimeFigureOut">
              <a:rPr lang="en-US" smtClean="0"/>
              <a:t>10/15/21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5D62A-BC6F-A242-BC1F-F05D62410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882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532E2-3CCD-654C-8418-5B247895C236}" type="datetimeFigureOut">
              <a:rPr lang="en-US" smtClean="0"/>
              <a:t>10/15/21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C4523-9022-5842-8B4C-93DB2B1F9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83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1836-1DA9-034C-BC49-859BFA9E3403}" type="datetime1">
              <a:rPr lang="en-US" smtClean="0"/>
              <a:t>10/15/21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4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6055F-73F9-A645-A117-EF73DA354635}" type="datetime1">
              <a:rPr lang="en-US" smtClean="0"/>
              <a:t>10/15/21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3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49976-7907-5B4C-9765-1FC0F1D4CC85}" type="datetime1">
              <a:rPr lang="en-US" smtClean="0"/>
              <a:t>10/15/21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2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587A-BC54-8E46-B224-A659FB20DB2B}" type="datetime1">
              <a:rPr lang="en-US" smtClean="0"/>
              <a:t>10/15/21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9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5599-AED5-7541-9CA1-FF0F9DD18692}" type="datetime1">
              <a:rPr lang="en-US" smtClean="0"/>
              <a:t>10/15/21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2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44D69-519E-104D-899B-8340E18D745F}" type="datetime1">
              <a:rPr lang="en-US" smtClean="0"/>
              <a:t>10/15/21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8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92D7B-EF87-CD45-AAA0-B92BEEBD033C}" type="datetime1">
              <a:rPr lang="en-US" smtClean="0"/>
              <a:t>10/15/21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0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F583D-8075-7048-9EED-13B3FC4581E8}" type="datetime1">
              <a:rPr lang="en-US" smtClean="0"/>
              <a:t>10/15/21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3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1CE4-F76E-2F4C-A7F8-CCB7A6CF2984}" type="datetime1">
              <a:rPr lang="en-US" smtClean="0"/>
              <a:t>10/15/21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95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42F2-15FE-274A-AD5A-3E18505C84D5}" type="datetime1">
              <a:rPr lang="en-US" smtClean="0"/>
              <a:t>10/15/21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0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B705-FF4B-C14B-BD49-55BD6E51BE13}" type="datetime1">
              <a:rPr lang="en-US" smtClean="0"/>
              <a:t>10/15/21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F85B85F-1228-B04C-8F9C-3B6D7CA78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8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7546"/>
            <a:ext cx="8229600" cy="574861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6516-325B-5A47-BE74-EB78D901351C}" type="datetimeFigureOut">
              <a:rPr lang="en-US" smtClean="0"/>
              <a:t>10/15/21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5BAE1E11-CFD6-7041-B12F-4AE5B15F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0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BDAE92C1-7B1B-9D4D-8E4A-B1A493D57F9A}" type="datetime1">
              <a:rPr lang="en-US" smtClean="0"/>
              <a:pPr/>
              <a:t>10/15/21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79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7" Type="http://schemas.openxmlformats.org/officeDocument/2006/relationships/image" Target="../media/image2.png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audio" Target="../media/media5.m4a"/><Relationship Id="rId7" Type="http://schemas.openxmlformats.org/officeDocument/2006/relationships/image" Target="../media/image7.png"/><Relationship Id="rId2" Type="http://schemas.microsoft.com/office/2007/relationships/media" Target="../media/media5.m4a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audio" Target="../media/media6.m4a"/><Relationship Id="rId7" Type="http://schemas.openxmlformats.org/officeDocument/2006/relationships/image" Target="../media/image3.png"/><Relationship Id="rId2" Type="http://schemas.microsoft.com/office/2007/relationships/media" Target="../media/media6.m4a"/><Relationship Id="rId1" Type="http://schemas.openxmlformats.org/officeDocument/2006/relationships/tags" Target="../tags/tag4.xml"/><Relationship Id="rId6" Type="http://schemas.openxmlformats.org/officeDocument/2006/relationships/image" Target="../media/image9.tiff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7" Type="http://schemas.openxmlformats.org/officeDocument/2006/relationships/image" Target="../media/image2.png"/><Relationship Id="rId2" Type="http://schemas.microsoft.com/office/2007/relationships/media" Target="../media/media8.m4a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2" Type="http://schemas.microsoft.com/office/2007/relationships/media" Target="../media/media9.m4a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media10.m4a"/><Relationship Id="rId7" Type="http://schemas.openxmlformats.org/officeDocument/2006/relationships/image" Target="../media/image2.png"/><Relationship Id="rId2" Type="http://schemas.microsoft.com/office/2007/relationships/media" Target="../media/media10.m4a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1.m4a"/><Relationship Id="rId2" Type="http://schemas.microsoft.com/office/2007/relationships/media" Target="../media/media11.m4a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2.m4a"/><Relationship Id="rId2" Type="http://schemas.microsoft.com/office/2007/relationships/media" Target="../media/media12.m4a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audio" Target="../media/media13.m4a"/><Relationship Id="rId7" Type="http://schemas.openxmlformats.org/officeDocument/2006/relationships/image" Target="../media/image23.png"/><Relationship Id="rId2" Type="http://schemas.microsoft.com/office/2007/relationships/media" Target="../media/media13.m4a"/><Relationship Id="rId1" Type="http://schemas.openxmlformats.org/officeDocument/2006/relationships/tags" Target="../tags/tag11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media14.m4a"/><Relationship Id="rId2" Type="http://schemas.microsoft.com/office/2007/relationships/media" Target="../media/media14.m4a"/><Relationship Id="rId1" Type="http://schemas.openxmlformats.org/officeDocument/2006/relationships/tags" Target="../tags/tag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media15.m4a"/><Relationship Id="rId2" Type="http://schemas.microsoft.com/office/2007/relationships/media" Target="../media/media15.m4a"/><Relationship Id="rId1" Type="http://schemas.openxmlformats.org/officeDocument/2006/relationships/tags" Target="../tags/tag13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media16.m4a"/><Relationship Id="rId2" Type="http://schemas.microsoft.com/office/2007/relationships/media" Target="../media/media16.m4a"/><Relationship Id="rId1" Type="http://schemas.openxmlformats.org/officeDocument/2006/relationships/tags" Target="../tags/tag14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audio" Target="../media/media17.m4a"/><Relationship Id="rId7" Type="http://schemas.openxmlformats.org/officeDocument/2006/relationships/image" Target="../media/image15.png"/><Relationship Id="rId2" Type="http://schemas.microsoft.com/office/2007/relationships/media" Target="../media/media17.m4a"/><Relationship Id="rId1" Type="http://schemas.openxmlformats.org/officeDocument/2006/relationships/tags" Target="../tags/tag15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media18.m4a"/><Relationship Id="rId2" Type="http://schemas.microsoft.com/office/2007/relationships/media" Target="../media/media18.m4a"/><Relationship Id="rId1" Type="http://schemas.openxmlformats.org/officeDocument/2006/relationships/tags" Target="../tags/tag16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tiff"/><Relationship Id="rId13" Type="http://schemas.openxmlformats.org/officeDocument/2006/relationships/image" Target="../media/image25.tiff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9.tiff"/><Relationship Id="rId12" Type="http://schemas.openxmlformats.org/officeDocument/2006/relationships/image" Target="../media/image24.tiff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18.tiff"/><Relationship Id="rId11" Type="http://schemas.openxmlformats.org/officeDocument/2006/relationships/image" Target="../media/image23.tiff"/><Relationship Id="rId5" Type="http://schemas.openxmlformats.org/officeDocument/2006/relationships/image" Target="../media/image17.tiff"/><Relationship Id="rId10" Type="http://schemas.openxmlformats.org/officeDocument/2006/relationships/image" Target="../media/image22.tiff"/><Relationship Id="rId4" Type="http://schemas.openxmlformats.org/officeDocument/2006/relationships/image" Target="../media/image3.png"/><Relationship Id="rId9" Type="http://schemas.openxmlformats.org/officeDocument/2006/relationships/image" Target="../media/image21.tiff"/><Relationship Id="rId1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9.emf"/><Relationship Id="rId7" Type="http://schemas.openxmlformats.org/officeDocument/2006/relationships/image" Target="../media/image1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3.emf"/><Relationship Id="rId7" Type="http://schemas.openxmlformats.org/officeDocument/2006/relationships/image" Target="../media/image19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5FFDFE-2DB6-674A-944A-D660D131C28E}"/>
              </a:ext>
            </a:extLst>
          </p:cNvPr>
          <p:cNvSpPr/>
          <p:nvPr/>
        </p:nvSpPr>
        <p:spPr>
          <a:xfrm>
            <a:off x="0" y="5772150"/>
            <a:ext cx="9144000" cy="1085850"/>
          </a:xfrm>
          <a:prstGeom prst="rect">
            <a:avLst/>
          </a:prstGeom>
          <a:solidFill>
            <a:srgbClr val="DA3D24"/>
          </a:solidFill>
          <a:ln>
            <a:solidFill>
              <a:srgbClr val="DA3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AEF23D4-807B-0C43-9F67-EE1FB6C10D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6018"/>
          <a:stretch/>
        </p:blipFill>
        <p:spPr>
          <a:xfrm>
            <a:off x="0" y="0"/>
            <a:ext cx="9144000" cy="587502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DF0B6BE-574C-7042-BC2E-463BB722BA98}"/>
              </a:ext>
            </a:extLst>
          </p:cNvPr>
          <p:cNvSpPr txBox="1">
            <a:spLocks/>
          </p:cNvSpPr>
          <p:nvPr/>
        </p:nvSpPr>
        <p:spPr>
          <a:xfrm>
            <a:off x="-36072" y="2991539"/>
            <a:ext cx="923900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3800" b="1" dirty="0">
                <a:solidFill>
                  <a:schemeClr val="bg1"/>
                </a:solidFill>
              </a:rPr>
              <a:t>Learning from the reliability paradox:</a:t>
            </a:r>
            <a:r>
              <a:rPr lang="en-US" sz="3800" dirty="0">
                <a:solidFill>
                  <a:schemeClr val="bg1"/>
                </a:solidFill>
              </a:rPr>
              <a:t> How theoretically informed generative models can improve person-level inference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D71603-F1B1-2043-9EBB-195A71493C6D}"/>
              </a:ext>
            </a:extLst>
          </p:cNvPr>
          <p:cNvSpPr txBox="1">
            <a:spLocks/>
          </p:cNvSpPr>
          <p:nvPr/>
        </p:nvSpPr>
        <p:spPr>
          <a:xfrm>
            <a:off x="658239" y="5200650"/>
            <a:ext cx="78275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Nathaniel Haines, Peter </a:t>
            </a:r>
            <a:r>
              <a:rPr lang="en-US" sz="2000" dirty="0" err="1">
                <a:solidFill>
                  <a:schemeClr val="bg1"/>
                </a:solidFill>
              </a:rPr>
              <a:t>Kvam</a:t>
            </a:r>
            <a:r>
              <a:rPr lang="en-US" sz="2000" dirty="0">
                <a:solidFill>
                  <a:schemeClr val="bg1"/>
                </a:solidFill>
              </a:rPr>
              <a:t>, Louis Irving, Colin Smith, Theodore </a:t>
            </a:r>
            <a:r>
              <a:rPr lang="en-US" sz="2000" dirty="0" err="1">
                <a:solidFill>
                  <a:schemeClr val="bg1"/>
                </a:solidFill>
              </a:rPr>
              <a:t>Beauchaine</a:t>
            </a:r>
            <a:r>
              <a:rPr lang="en-US" sz="2000" dirty="0">
                <a:solidFill>
                  <a:schemeClr val="bg1"/>
                </a:solidFill>
              </a:rPr>
              <a:t>, Mark Pitt, Woo-Young </a:t>
            </a:r>
            <a:r>
              <a:rPr lang="en-US" sz="2000" dirty="0" err="1">
                <a:solidFill>
                  <a:schemeClr val="bg1"/>
                </a:solidFill>
              </a:rPr>
              <a:t>Ahn</a:t>
            </a:r>
            <a:r>
              <a:rPr lang="en-US" sz="2000" dirty="0">
                <a:solidFill>
                  <a:schemeClr val="bg1"/>
                </a:solidFill>
              </a:rPr>
              <a:t>, &amp; Brandon Turner 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6B23D2B3-E1B4-554D-BB9E-A6E684E062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59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343"/>
    </mc:Choice>
    <mc:Fallback>
      <p:transition spd="slow" advTm="18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996AE5D-B5B9-3E4E-989D-37CB768290ED}"/>
              </a:ext>
            </a:extLst>
          </p:cNvPr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D40E8-93F7-ED4C-957E-3896FE91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606"/>
            <a:ext cx="8229600" cy="1143000"/>
          </a:xfrm>
        </p:spPr>
        <p:txBody>
          <a:bodyPr/>
          <a:lstStyle/>
          <a:p>
            <a:r>
              <a:rPr lang="en-US" i="1" dirty="0"/>
              <a:t>Outline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57132-7B99-6745-99F3-CD01B330363C}"/>
              </a:ext>
            </a:extLst>
          </p:cNvPr>
          <p:cNvSpPr txBox="1"/>
          <p:nvPr/>
        </p:nvSpPr>
        <p:spPr>
          <a:xfrm>
            <a:off x="1840871" y="1073993"/>
            <a:ext cx="729140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3600" dirty="0">
              <a:solidFill>
                <a:srgbClr val="8F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solidFill>
                  <a:srgbClr val="8F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Reliability Paradox</a:t>
            </a:r>
          </a:p>
          <a:p>
            <a:pPr marL="971550" lvl="1" indent="-514350">
              <a:buFont typeface="+mj-lt"/>
              <a:buAutoNum type="arabicPeriod"/>
            </a:pPr>
            <a:endParaRPr lang="en-US" sz="2400" dirty="0">
              <a:solidFill>
                <a:srgbClr val="8F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solidFill>
                  <a:srgbClr val="8F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Breaking down inference</a:t>
            </a:r>
          </a:p>
          <a:p>
            <a:pPr marL="971550" lvl="1" indent="-514350">
              <a:buFont typeface="+mj-lt"/>
              <a:buAutoNum type="arabicPeriod"/>
            </a:pPr>
            <a:endParaRPr lang="en-US" sz="2400" dirty="0">
              <a:solidFill>
                <a:srgbClr val="8F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solidFill>
                  <a:srgbClr val="8F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 recovery study</a:t>
            </a:r>
          </a:p>
          <a:p>
            <a:pPr marL="971550" lvl="1" indent="-514350">
              <a:buFont typeface="+mj-lt"/>
              <a:buAutoNum type="arabicPeriod"/>
            </a:pPr>
            <a:endParaRPr lang="en-US" sz="2400" dirty="0">
              <a:solidFill>
                <a:srgbClr val="8F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solidFill>
                  <a:srgbClr val="8F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Empirical test-retest applications</a:t>
            </a:r>
          </a:p>
          <a:p>
            <a:pPr marL="971550" lvl="1" indent="-514350">
              <a:buFont typeface="+mj-lt"/>
              <a:buAutoNum type="arabicPeriod"/>
            </a:pPr>
            <a:endParaRPr lang="en-US" sz="2400" dirty="0">
              <a:solidFill>
                <a:srgbClr val="8F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>
                <a:solidFill>
                  <a:srgbClr val="8F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implications</a:t>
            </a:r>
          </a:p>
          <a:p>
            <a:pPr marL="971550" lvl="1" indent="-514350">
              <a:buFont typeface="+mj-lt"/>
              <a:buAutoNum type="arabicPeriod"/>
            </a:pPr>
            <a:endParaRPr lang="en-US" sz="3600" dirty="0">
              <a:solidFill>
                <a:srgbClr val="8F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90C3663A-9865-4F41-9714-6DBC19B136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711"/>
          <a:stretch/>
        </p:blipFill>
        <p:spPr>
          <a:xfrm>
            <a:off x="166254" y="3300781"/>
            <a:ext cx="1927314" cy="1624510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79115927-E725-DA45-9FEA-AEDB6C079B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64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500"/>
    </mc:Choice>
    <mc:Fallback>
      <p:transition spd="slow" advTm="65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Prologue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6005A-E655-FA46-9CD1-0A917A933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4005" y="1600200"/>
                <a:ext cx="8875989" cy="4796392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Theories based on individual differences are foundational to psychological and cognitive science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Many perils associated with developing sufficient explanatory theories: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solidFill>
                      <a:srgbClr val="8F2727"/>
                    </a:solidFill>
                  </a:rPr>
                  <a:t>(Theory/explanation) </a:t>
                </a:r>
                <a14:m>
                  <m:oMath xmlns:m="http://schemas.openxmlformats.org/officeDocument/2006/math">
                    <m:r>
                      <a:rPr lang="en-US" b="0" i="0">
                        <a:solidFill>
                          <a:srgbClr val="8F2727"/>
                        </a:solidFill>
                        <a:latin typeface="Cambria Math" panose="02040503050406030204" pitchFamily="18" charset="0"/>
                      </a:rPr>
                      <m:t>≠ </m:t>
                    </m:r>
                  </m:oMath>
                </a14:m>
                <a:r>
                  <a:rPr lang="en-US" dirty="0">
                    <a:solidFill>
                      <a:srgbClr val="8F2727"/>
                    </a:solidFill>
                  </a:rPr>
                  <a:t>(prediction/description)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solidFill>
                      <a:srgbClr val="8F2727"/>
                    </a:solidFill>
                  </a:rPr>
                  <a:t>Aggregate group-level results ⇏ translation to any given person or individual unit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solidFill>
                      <a:srgbClr val="8F2727"/>
                    </a:solidFill>
                  </a:rPr>
                  <a:t>Gaps between rich conceptual theories and their statistical implementations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i="1" dirty="0">
                    <a:solidFill>
                      <a:srgbClr val="8F2727"/>
                    </a:solidFill>
                  </a:rPr>
                  <a:t>Measurement issues…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6005A-E655-FA46-9CD1-0A917A933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005" y="1600200"/>
                <a:ext cx="8875989" cy="4796392"/>
              </a:xfrm>
              <a:blipFill>
                <a:blip r:embed="rId5"/>
                <a:stretch>
                  <a:fillRect l="-1429" t="-2381" r="-1000" b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A76B2A7F-3728-3F4C-B46D-43A43850C03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8EC218-599A-5742-A7F4-4AADA3E2A20E}"/>
              </a:ext>
            </a:extLst>
          </p:cNvPr>
          <p:cNvSpPr txBox="1"/>
          <p:nvPr/>
        </p:nvSpPr>
        <p:spPr>
          <a:xfrm>
            <a:off x="62162" y="6396592"/>
            <a:ext cx="8659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Guest &amp; Martin, 2020; Kellen, 2019; Navarro, 2018;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Suppes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1966; van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Rooij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&amp; Baggio, 2020 </a:t>
            </a:r>
          </a:p>
          <a:p>
            <a:pPr marL="0" lvl="2"/>
            <a:endParaRPr lang="en-US" sz="1600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8D943-867E-0249-9611-4B9986AC5280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70F5D2B1-EF95-ED47-9459-CE3732DDBD9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7915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7015"/>
    </mc:Choice>
    <mc:Fallback>
      <p:transition spd="slow" advTm="1170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005A-E655-FA46-9CD1-0A917A933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2" y="1442169"/>
            <a:ext cx="7486133" cy="4998025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Measurement issues galore: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Self-report measures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sz="2000" dirty="0"/>
              <a:t>Often Likert scales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sz="2000" dirty="0"/>
              <a:t>Scoring </a:t>
            </a:r>
            <a:r>
              <a:rPr lang="en-US" sz="2000" dirty="0">
                <a:sym typeface="Wingdings" pitchFamily="2" charset="2"/>
              </a:rPr>
              <a:t> sum item responses</a:t>
            </a:r>
            <a:endParaRPr lang="en-US" sz="2000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Behavioral measures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sz="2000" dirty="0"/>
              <a:t>Often accuracy or response time tasks</a:t>
            </a:r>
          </a:p>
          <a:p>
            <a:pPr marL="1371600" lvl="2" indent="-514350">
              <a:buFont typeface="Wingdings" pitchFamily="2" charset="2"/>
              <a:buChar char="Ø"/>
            </a:pPr>
            <a:r>
              <a:rPr lang="en-US" sz="2000" dirty="0"/>
              <a:t>Scoring </a:t>
            </a:r>
            <a:r>
              <a:rPr lang="en-US" sz="2000" dirty="0">
                <a:sym typeface="Wingdings" pitchFamily="2" charset="2"/>
              </a:rPr>
              <a:t> percent correct or average response time (either within a condition or contrasted across conditions)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  <a:sym typeface="Wingdings" pitchFamily="2" charset="2"/>
              </a:rPr>
              <a:t>(1) and (2) often show low correspondence (e.g., impulsivity literature)  </a:t>
            </a:r>
            <a:r>
              <a:rPr lang="en-US" b="1" i="1" dirty="0">
                <a:solidFill>
                  <a:srgbClr val="8F2727"/>
                </a:solidFill>
                <a:sym typeface="Wingdings" pitchFamily="2" charset="2"/>
              </a:rPr>
              <a:t>Why?</a:t>
            </a:r>
            <a:endParaRPr lang="en-US" b="1" i="1" dirty="0">
              <a:solidFill>
                <a:srgbClr val="8F272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912F8F-DB25-BF48-A402-7D796A34EE4C}"/>
              </a:ext>
            </a:extLst>
          </p:cNvPr>
          <p:cNvSpPr txBox="1"/>
          <p:nvPr/>
        </p:nvSpPr>
        <p:spPr>
          <a:xfrm>
            <a:off x="0" y="6440194"/>
            <a:ext cx="5780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Cyders &amp; </a:t>
            </a:r>
            <a:r>
              <a:rPr lang="en-US" i="1" dirty="0" err="1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Coskunpinar</a:t>
            </a:r>
            <a:r>
              <a:rPr lang="en-US" i="1" dirty="0">
                <a:solidFill>
                  <a:srgbClr val="BFBF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2011; Duckworth &amp; Kern, 2011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E2BD78-6A80-A846-B50E-EFD02ADB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Prologue</a:t>
            </a: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26C8C663-ED7A-5A4C-A45B-91817CFD89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730F1B-84E8-7F42-ACC9-5207D138570D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09BFED58-E958-944E-BE4B-219359715EE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25613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132"/>
    </mc:Choice>
    <mc:Fallback>
      <p:transition spd="slow" advTm="651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733370-096E-4140-B24D-B8678505E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2679762"/>
            <a:ext cx="4586784" cy="382232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5B08BA-DF0E-5247-ABE0-3FF1B75F2BE1}"/>
              </a:ext>
            </a:extLst>
          </p:cNvPr>
          <p:cNvSpPr txBox="1"/>
          <p:nvPr/>
        </p:nvSpPr>
        <p:spPr>
          <a:xfrm>
            <a:off x="1087497" y="6488668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Hedge et al. (2017)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1DF3F-078F-4248-999F-A66535417081}"/>
              </a:ext>
            </a:extLst>
          </p:cNvPr>
          <p:cNvSpPr txBox="1"/>
          <p:nvPr/>
        </p:nvSpPr>
        <p:spPr>
          <a:xfrm>
            <a:off x="5809560" y="6488668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Enkavi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et al. (2019)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D49B-859B-2C41-840E-3060AF329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Partly because many behavioral summary measures have </a:t>
            </a:r>
            <a:r>
              <a:rPr lang="en-US" sz="2800" b="1" i="1" dirty="0">
                <a:solidFill>
                  <a:srgbClr val="8F2727"/>
                </a:solidFill>
              </a:rPr>
              <a:t>low test-retest reliability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51D449-5192-B64B-8A83-DEBB7F4F204E}"/>
              </a:ext>
            </a:extLst>
          </p:cNvPr>
          <p:cNvGrpSpPr/>
          <p:nvPr/>
        </p:nvGrpSpPr>
        <p:grpSpPr>
          <a:xfrm>
            <a:off x="68561" y="2579077"/>
            <a:ext cx="3900234" cy="3909591"/>
            <a:chOff x="68561" y="2579077"/>
            <a:chExt cx="3900234" cy="3909591"/>
          </a:xfrm>
        </p:grpSpPr>
        <p:pic>
          <p:nvPicPr>
            <p:cNvPr id="9" name="Picture 8" descr="Chart, scatter chart&#10;&#10;Description automatically generated">
              <a:extLst>
                <a:ext uri="{FF2B5EF4-FFF2-40B4-BE49-F238E27FC236}">
                  <a16:creationId xmlns:a16="http://schemas.microsoft.com/office/drawing/2014/main" id="{5EAC8F24-BA2E-754D-BD92-6375EC1A5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83281" y="3531793"/>
              <a:ext cx="1985514" cy="2004157"/>
            </a:xfrm>
            <a:prstGeom prst="rect">
              <a:avLst/>
            </a:prstGeom>
          </p:spPr>
        </p:pic>
        <p:pic>
          <p:nvPicPr>
            <p:cNvPr id="11" name="Picture 10" descr="Chart, scatter chart&#10;&#10;Description automatically generated">
              <a:extLst>
                <a:ext uri="{FF2B5EF4-FFF2-40B4-BE49-F238E27FC236}">
                  <a16:creationId xmlns:a16="http://schemas.microsoft.com/office/drawing/2014/main" id="{21F26724-B8BF-6946-A55E-85B1E2ADA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561" y="2579077"/>
              <a:ext cx="1914720" cy="3909591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FE0E305-C36E-294E-9D42-4B41A2014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The Reliability Paradox</a:t>
            </a:r>
          </a:p>
        </p:txBody>
      </p: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226055C-019C-D141-9C7F-FD299031D4E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9AFDBA-2F5C-B742-8AAE-3867D6682644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A4587F35-EC2E-E84C-B0A7-1821628D8A7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8269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809"/>
    </mc:Choice>
    <mc:Fallback>
      <p:transition spd="slow" advTm="758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AF9D-B294-554B-A6A5-84E55D8A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The Reliability Paradox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6005A-E655-FA46-9CD1-0A917A933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/>
                  <a:t>Low test-retest implies: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>
                    <a:solidFill>
                      <a:srgbClr val="8F2727"/>
                    </a:solidFill>
                  </a:rPr>
                  <a:t>We need </a:t>
                </a:r>
                <a:r>
                  <a:rPr lang="en-US" b="1" i="1" dirty="0">
                    <a:solidFill>
                      <a:srgbClr val="8F2727"/>
                    </a:solidFill>
                  </a:rPr>
                  <a:t>much</a:t>
                </a:r>
                <a:r>
                  <a:rPr lang="en-US" dirty="0">
                    <a:solidFill>
                      <a:srgbClr val="8F2727"/>
                    </a:solidFill>
                  </a:rPr>
                  <a:t> higher </a:t>
                </a:r>
                <a:r>
                  <a:rPr lang="en-US" i="1" dirty="0">
                    <a:solidFill>
                      <a:srgbClr val="8F2727"/>
                    </a:solidFill>
                  </a:rPr>
                  <a:t>N</a:t>
                </a:r>
                <a:r>
                  <a:rPr lang="en-US" dirty="0">
                    <a:solidFill>
                      <a:srgbClr val="8F2727"/>
                    </a:solidFill>
                  </a:rPr>
                  <a:t>’s to have adequate statistical power</a:t>
                </a:r>
              </a:p>
              <a:p>
                <a:pPr marL="1371600" lvl="2" indent="-514350">
                  <a:buFont typeface="Wingdings" pitchFamily="2" charset="2"/>
                  <a:buChar char="Ø"/>
                </a:pPr>
                <a:r>
                  <a:rPr lang="en-US" dirty="0"/>
                  <a:t>e.g., detecting a true effect of </a:t>
                </a:r>
                <a:r>
                  <a:rPr lang="en-US" i="1" dirty="0"/>
                  <a:t>r</a:t>
                </a:r>
                <a:r>
                  <a:rPr lang="en-US" dirty="0"/>
                  <a:t> = .3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.05;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.2</m:t>
                    </m:r>
                  </m:oMath>
                </a14:m>
                <a:r>
                  <a:rPr lang="en-US" dirty="0"/>
                  <a:t>) between 2 measures with reliabilities of .6 requires 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240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>
                    <a:solidFill>
                      <a:srgbClr val="8F2727"/>
                    </a:solidFill>
                  </a:rPr>
                  <a:t>1. ⇒ behavioral measures are poorly suited for individual difference research</a:t>
                </a:r>
              </a:p>
              <a:p>
                <a:pPr marL="1371600" lvl="2" indent="-514350">
                  <a:buFont typeface="Wingdings" pitchFamily="2" charset="2"/>
                  <a:buChar char="Ø"/>
                </a:pPr>
                <a:r>
                  <a:rPr lang="en-US" dirty="0"/>
                  <a:t>Limits research in, e.g., clinical settings or those requiring expensive data collection, such as fMRI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E6005A-E655-FA46-9CD1-0A917A933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  <a:blipFill>
                <a:blip r:embed="rId5"/>
                <a:stretch>
                  <a:fillRect l="-1852" t="-1527" r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CAE138E-66CA-DD4C-8C9D-C68636DE5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555" y="3132280"/>
            <a:ext cx="1080655" cy="1080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272785-6322-B943-8B4A-8D0EBE2048BC}"/>
              </a:ext>
            </a:extLst>
          </p:cNvPr>
          <p:cNvSpPr txBox="1"/>
          <p:nvPr/>
        </p:nvSpPr>
        <p:spPr>
          <a:xfrm>
            <a:off x="0" y="6440194"/>
            <a:ext cx="5891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/>
              </a:rPr>
              <a:t>Dang et al., 2020; Hedge et al., 2017; </a:t>
            </a:r>
            <a:r>
              <a:rPr lang="en-US" i="1" dirty="0" err="1">
                <a:solidFill>
                  <a:schemeClr val="bg1">
                    <a:lumMod val="65000"/>
                  </a:schemeClr>
                </a:solidFill>
                <a:sym typeface="Wingdings"/>
              </a:rPr>
              <a:t>Wennerhold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/>
              </a:rPr>
              <a:t> &amp; Friese, 2020</a:t>
            </a: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9A38FF8B-A8B1-3C4C-9D7B-1AF2C3DCD87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1BD793-3AD7-724C-8F80-AE0B2C8A843D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41EB479-2422-C841-AABD-266383772ED3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1186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872"/>
    </mc:Choice>
    <mc:Fallback>
      <p:transition spd="slow" advTm="528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1EC26CD-2263-5842-B37F-6D55E1A2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59" y="3408603"/>
            <a:ext cx="8622081" cy="994172"/>
          </a:xfrm>
        </p:spPr>
        <p:txBody>
          <a:bodyPr>
            <a:noAutofit/>
          </a:bodyPr>
          <a:lstStyle/>
          <a:p>
            <a:r>
              <a:rPr lang="en-US" sz="4800" b="1" i="1" dirty="0"/>
              <a:t>If behavioral and neural measures perform poorly, should we not use them for individual difference research?</a:t>
            </a:r>
            <a:br>
              <a:rPr lang="en-US" sz="4800" b="1" i="1" dirty="0"/>
            </a:br>
            <a:br>
              <a:rPr lang="en-US" sz="4800" b="1" i="1" dirty="0"/>
            </a:br>
            <a:endParaRPr lang="en-US" sz="4800" dirty="0">
              <a:solidFill>
                <a:srgbClr val="8F2727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1F3282-34DE-A341-9EA0-CB45C7200D37}"/>
              </a:ext>
            </a:extLst>
          </p:cNvPr>
          <p:cNvSpPr txBox="1">
            <a:spLocks/>
          </p:cNvSpPr>
          <p:nvPr/>
        </p:nvSpPr>
        <p:spPr>
          <a:xfrm>
            <a:off x="260959" y="5296019"/>
            <a:ext cx="862208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4000" dirty="0">
                <a:solidFill>
                  <a:srgbClr val="8F2727"/>
                </a:solidFill>
              </a:rPr>
              <a:t>It’s complicated…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78BFFC61-E63B-194D-BC84-656EE4F1AFA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55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709"/>
    </mc:Choice>
    <mc:Fallback>
      <p:transition spd="slow" advTm="217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7A6A481-F950-2946-ABAC-3407BDA860A0}"/>
              </a:ext>
            </a:extLst>
          </p:cNvPr>
          <p:cNvSpPr/>
          <p:nvPr/>
        </p:nvSpPr>
        <p:spPr>
          <a:xfrm>
            <a:off x="262627" y="1409366"/>
            <a:ext cx="8645703" cy="5448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Diagram&#10;&#10;Description automatically generated">
            <a:extLst>
              <a:ext uri="{FF2B5EF4-FFF2-40B4-BE49-F238E27FC236}">
                <a16:creationId xmlns:a16="http://schemas.microsoft.com/office/drawing/2014/main" id="{7F0E0DE4-A0C4-5E43-A24E-6DCC17827F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493" b="22110"/>
          <a:stretch/>
        </p:blipFill>
        <p:spPr>
          <a:xfrm>
            <a:off x="183268" y="1592402"/>
            <a:ext cx="8777463" cy="480646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AC8BB30-7B97-234C-92B2-398CA746C96E}"/>
              </a:ext>
            </a:extLst>
          </p:cNvPr>
          <p:cNvSpPr/>
          <p:nvPr/>
        </p:nvSpPr>
        <p:spPr>
          <a:xfrm>
            <a:off x="5729388" y="1592402"/>
            <a:ext cx="3231344" cy="49668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7885B29-7BA1-5D48-AAC3-793B4385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Breaking Down Inference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0F7005-4BAF-FC44-804B-07F85CB75D97}"/>
              </a:ext>
            </a:extLst>
          </p:cNvPr>
          <p:cNvSpPr/>
          <p:nvPr/>
        </p:nvSpPr>
        <p:spPr>
          <a:xfrm>
            <a:off x="205895" y="1412721"/>
            <a:ext cx="3231344" cy="4995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69FBA8-4235-D642-98DE-F6B78A911524}"/>
              </a:ext>
            </a:extLst>
          </p:cNvPr>
          <p:cNvSpPr txBox="1"/>
          <p:nvPr/>
        </p:nvSpPr>
        <p:spPr>
          <a:xfrm>
            <a:off x="5394424" y="1859095"/>
            <a:ext cx="374957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300" dirty="0">
                <a:solidFill>
                  <a:srgbClr val="8F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Two-stage approaches ignore measurement uncertainty, attenuating individual difference correlations</a:t>
            </a:r>
          </a:p>
          <a:p>
            <a:pPr lvl="1"/>
            <a:endParaRPr lang="en-US" sz="2300" dirty="0">
              <a:solidFill>
                <a:srgbClr val="8F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300" dirty="0">
              <a:solidFill>
                <a:srgbClr val="8F27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300" dirty="0">
                <a:solidFill>
                  <a:srgbClr val="8F27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summary statistics fail to connect conceptual theories of behavior to data in meaningful ways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E8C29F-4E7A-FB4F-AB6A-7A89E2A4834A}"/>
              </a:ext>
            </a:extLst>
          </p:cNvPr>
          <p:cNvSpPr txBox="1"/>
          <p:nvPr/>
        </p:nvSpPr>
        <p:spPr>
          <a:xfrm>
            <a:off x="9761" y="6500006"/>
            <a:ext cx="4301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Haines et al. 2021; Turner et al., 2016; 2019</a:t>
            </a:r>
          </a:p>
          <a:p>
            <a:pPr marL="0" lvl="2"/>
            <a:endParaRPr lang="en-US" sz="1600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DA033C-9119-DA4D-B460-BDB9EEF3D774}"/>
              </a:ext>
            </a:extLst>
          </p:cNvPr>
          <p:cNvSpPr txBox="1"/>
          <p:nvPr/>
        </p:nvSpPr>
        <p:spPr>
          <a:xfrm>
            <a:off x="5108" y="6408566"/>
            <a:ext cx="9254995" cy="5283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2">
              <a:lnSpc>
                <a:spcPts val="1660"/>
              </a:lnSpc>
            </a:pPr>
            <a:r>
              <a:rPr lang="en-US" sz="17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Devezer</a:t>
            </a:r>
            <a:r>
              <a:rPr lang="en-US" sz="17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et al., 2019; 2020; Estes, 1956; </a:t>
            </a:r>
            <a:r>
              <a:rPr lang="en-US" sz="17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Regenwetter</a:t>
            </a:r>
            <a:r>
              <a:rPr lang="en-US" sz="17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&amp; Robinson, 2017; </a:t>
            </a:r>
            <a:r>
              <a:rPr lang="en-US" sz="17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Rouder</a:t>
            </a:r>
            <a:r>
              <a:rPr lang="en-US" sz="17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&amp; </a:t>
            </a:r>
            <a:r>
              <a:rPr lang="en-US" sz="17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Haaf</a:t>
            </a:r>
            <a:r>
              <a:rPr lang="en-US" sz="17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2019; Turner et al., 2018; </a:t>
            </a:r>
            <a:r>
              <a:rPr lang="en-US" sz="17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Vandekerckhove</a:t>
            </a:r>
            <a:r>
              <a:rPr lang="en-US" sz="17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2014</a:t>
            </a:r>
            <a:endParaRPr lang="en-US" sz="1700" dirty="0"/>
          </a:p>
        </p:txBody>
      </p:sp>
      <p:pic>
        <p:nvPicPr>
          <p:cNvPr id="41" name="Picture 40" descr="A close up of a logo&#10;&#10;Description automatically generated">
            <a:extLst>
              <a:ext uri="{FF2B5EF4-FFF2-40B4-BE49-F238E27FC236}">
                <a16:creationId xmlns:a16="http://schemas.microsoft.com/office/drawing/2014/main" id="{02623FA2-8AA2-0742-85F1-73E710829D4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C430794-07D6-2D4B-B5BD-43E5DF8DD242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5D3DD410-1189-E241-9566-64A3D511606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6468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0094"/>
    </mc:Choice>
    <mc:Fallback>
      <p:transition spd="slow" advTm="2500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18" grpId="0" animBg="1"/>
      <p:bldP spid="31" grpId="1" animBg="1"/>
      <p:bldP spid="32" grpId="0"/>
      <p:bldP spid="32" grpId="1"/>
      <p:bldP spid="37" grpId="0" animBg="1"/>
      <p:bldP spid="3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1EC26CD-2263-5842-B37F-6D55E1A2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59" y="3442893"/>
            <a:ext cx="8622081" cy="994172"/>
          </a:xfrm>
        </p:spPr>
        <p:txBody>
          <a:bodyPr>
            <a:noAutofit/>
          </a:bodyPr>
          <a:lstStyle/>
          <a:p>
            <a:r>
              <a:rPr lang="en-US" sz="5400" b="1" i="1" dirty="0"/>
              <a:t>How does generative modeling resolve issues associated with the two-stage approach?</a:t>
            </a:r>
            <a:br>
              <a:rPr lang="en-US" sz="5400" b="1" i="1" dirty="0"/>
            </a:br>
            <a:br>
              <a:rPr lang="en-US" sz="5400" b="1" i="1" dirty="0"/>
            </a:br>
            <a:endParaRPr lang="en-US" sz="5400" dirty="0">
              <a:solidFill>
                <a:srgbClr val="8F2727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1F3282-34DE-A341-9EA0-CB45C7200D37}"/>
              </a:ext>
            </a:extLst>
          </p:cNvPr>
          <p:cNvSpPr txBox="1">
            <a:spLocks/>
          </p:cNvSpPr>
          <p:nvPr/>
        </p:nvSpPr>
        <p:spPr>
          <a:xfrm>
            <a:off x="260959" y="5296019"/>
            <a:ext cx="862208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3200" dirty="0">
                <a:solidFill>
                  <a:srgbClr val="8F2727"/>
                </a:solidFill>
              </a:rPr>
              <a:t>Let’s talk about the data generating process!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4478C3F1-DC38-AD49-9023-B66BEF9B779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5274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21"/>
    </mc:Choice>
    <mc:Fallback>
      <p:transition spd="slow" advTm="96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A40C6CF-5520-7346-ABAF-B6D15F9C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Breaking Down Inference</a:t>
            </a:r>
          </a:p>
        </p:txBody>
      </p:sp>
      <p:pic>
        <p:nvPicPr>
          <p:cNvPr id="9" name="Picture 8" descr="A picture containing shape&#10;&#10;Description automatically generated">
            <a:extLst>
              <a:ext uri="{FF2B5EF4-FFF2-40B4-BE49-F238E27FC236}">
                <a16:creationId xmlns:a16="http://schemas.microsoft.com/office/drawing/2014/main" id="{E0FD9E0D-A49F-0349-B630-AAB217EB0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013" y="1199047"/>
            <a:ext cx="8557847" cy="56659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CB4FF5A-E484-9247-AE0A-20CC71CB01E0}"/>
              </a:ext>
            </a:extLst>
          </p:cNvPr>
          <p:cNvSpPr/>
          <p:nvPr/>
        </p:nvSpPr>
        <p:spPr>
          <a:xfrm>
            <a:off x="1090246" y="2743200"/>
            <a:ext cx="6693877" cy="11430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4CD619-44A2-DA48-BA44-19A05F337852}"/>
              </a:ext>
            </a:extLst>
          </p:cNvPr>
          <p:cNvSpPr/>
          <p:nvPr/>
        </p:nvSpPr>
        <p:spPr>
          <a:xfrm>
            <a:off x="1090244" y="4044293"/>
            <a:ext cx="6693877" cy="10399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E1004A-205D-4940-9694-36010F389341}"/>
              </a:ext>
            </a:extLst>
          </p:cNvPr>
          <p:cNvSpPr/>
          <p:nvPr/>
        </p:nvSpPr>
        <p:spPr>
          <a:xfrm>
            <a:off x="1142997" y="5139201"/>
            <a:ext cx="6693877" cy="10488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FE92C9-746E-7449-8CED-FEEC259F221B}"/>
              </a:ext>
            </a:extLst>
          </p:cNvPr>
          <p:cNvSpPr/>
          <p:nvPr/>
        </p:nvSpPr>
        <p:spPr>
          <a:xfrm>
            <a:off x="4437183" y="1246285"/>
            <a:ext cx="1178171" cy="14724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F7C5E9D8-D60B-9B40-9310-EE902021AC5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CF8FCE8-2EC8-C34D-A8C0-01B843E434F5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3C500218-6AD7-664A-8848-7D5D65A9AC9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336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7804"/>
    </mc:Choice>
    <mc:Fallback>
      <p:transition spd="slow" advTm="2478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1EC26CD-2263-5842-B37F-6D55E1A2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59" y="3442893"/>
            <a:ext cx="8622081" cy="994172"/>
          </a:xfrm>
        </p:spPr>
        <p:txBody>
          <a:bodyPr>
            <a:noAutofit/>
          </a:bodyPr>
          <a:lstStyle/>
          <a:p>
            <a:r>
              <a:rPr lang="en-US" sz="5400" b="1" i="1" dirty="0"/>
              <a:t>How big of a difference should it actually make?</a:t>
            </a:r>
            <a:br>
              <a:rPr lang="en-US" sz="5400" b="1" i="1" dirty="0"/>
            </a:br>
            <a:br>
              <a:rPr lang="en-US" sz="5400" b="1" i="1" dirty="0"/>
            </a:br>
            <a:endParaRPr lang="en-US" sz="5400" dirty="0">
              <a:solidFill>
                <a:srgbClr val="8F2727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1F3282-34DE-A341-9EA0-CB45C7200D37}"/>
              </a:ext>
            </a:extLst>
          </p:cNvPr>
          <p:cNvSpPr txBox="1">
            <a:spLocks/>
          </p:cNvSpPr>
          <p:nvPr/>
        </p:nvSpPr>
        <p:spPr>
          <a:xfrm>
            <a:off x="260959" y="5296019"/>
            <a:ext cx="862208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4000" dirty="0">
                <a:solidFill>
                  <a:srgbClr val="8F2727"/>
                </a:solidFill>
              </a:rPr>
              <a:t>Time to simulate!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85ACE212-78C2-064E-B873-DB82352ADEA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69644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21"/>
    </mc:Choice>
    <mc:Fallback>
      <p:transition spd="slow" advTm="83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FFB3-A5CD-B741-BCE3-9C6235C8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Parameter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37C12-A0A6-D54C-AC34-3DD247DA1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1155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Procedure: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Draw person-level parameters (e.g., mean RT) from a multivariate normal with a “test-retest” correlation ranging from -1 and +1</a:t>
            </a:r>
          </a:p>
          <a:p>
            <a:pPr marL="914400" lvl="1" indent="-514350">
              <a:buFont typeface="+mj-lt"/>
              <a:buAutoNum type="arabicPeriod"/>
            </a:pPr>
            <a:endParaRPr lang="en-US" sz="1400" dirty="0">
              <a:solidFill>
                <a:srgbClr val="8F2727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Draw response times from lognormal distribution with parameters from (1) for each simulated person, within both task conditions and sessions</a:t>
            </a:r>
            <a:endParaRPr lang="en-US" sz="1200" dirty="0">
              <a:solidFill>
                <a:srgbClr val="8F2727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endParaRPr lang="en-US" sz="1400" dirty="0">
              <a:solidFill>
                <a:srgbClr val="8F2727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Compare the two-stage summary statistic approach versus generative model estimates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0FDCDAA-59C8-FD49-A953-1AB038B011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EA8ABB-C670-A54E-9359-7317739DAC04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2941CDC6-BC6D-714E-99F1-B625CB74421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6278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678"/>
    </mc:Choice>
    <mc:Fallback>
      <p:transition spd="slow" advTm="606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C17723B2-F2F5-1640-9DD2-29D71FEFC9FC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70" r="95805" b="36889"/>
          <a:stretch/>
        </p:blipFill>
        <p:spPr>
          <a:xfrm>
            <a:off x="415576" y="2521154"/>
            <a:ext cx="422439" cy="2914829"/>
          </a:xfrm>
          <a:prstGeom prst="rect">
            <a:avLst/>
          </a:prstGeom>
        </p:spPr>
      </p:pic>
      <p:pic>
        <p:nvPicPr>
          <p:cNvPr id="7" name="Picture 6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5C25EF8D-038B-AA43-AF4A-E61DB526ECB2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9" r="20921" b="59943"/>
          <a:stretch/>
        </p:blipFill>
        <p:spPr>
          <a:xfrm>
            <a:off x="838015" y="1569030"/>
            <a:ext cx="7551096" cy="4301836"/>
          </a:xfrm>
          <a:prstGeom prst="rect">
            <a:avLst/>
          </a:prstGeom>
        </p:spPr>
      </p:pic>
      <p:pic>
        <p:nvPicPr>
          <p:cNvPr id="8" name="Picture 7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56284559-7891-514B-BCF3-32F091C6CE9C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69" t="43226" r="2564" b="44810"/>
          <a:stretch/>
        </p:blipFill>
        <p:spPr>
          <a:xfrm>
            <a:off x="7246941" y="231296"/>
            <a:ext cx="1678021" cy="1284919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B53719E6-ABD2-5345-BCDA-D18E01729FDE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92614" r="27887" b="1478"/>
          <a:stretch/>
        </p:blipFill>
        <p:spPr>
          <a:xfrm>
            <a:off x="1214003" y="5870866"/>
            <a:ext cx="6444098" cy="633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88AA64-09CC-F642-8438-B8FED98D7E1E}"/>
                  </a:ext>
                </a:extLst>
              </p:cNvPr>
              <p:cNvSpPr txBox="1"/>
              <p:nvPr/>
            </p:nvSpPr>
            <p:spPr>
              <a:xfrm>
                <a:off x="2223594" y="1516215"/>
                <a:ext cx="1319706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𝜇</m:t>
                      </m:r>
                    </m:oMath>
                  </m:oMathPara>
                </a14:m>
                <a:endParaRPr lang="en-US" sz="3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88AA64-09CC-F642-8438-B8FED98D7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594" y="1516215"/>
                <a:ext cx="1319706" cy="584775"/>
              </a:xfrm>
              <a:prstGeom prst="rect">
                <a:avLst/>
              </a:prstGeom>
              <a:blipFill>
                <a:blip r:embed="rId6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B39BE7-AFEF-CF4F-ABDB-D39FF0C749C9}"/>
                  </a:ext>
                </a:extLst>
              </p:cNvPr>
              <p:cNvSpPr txBox="1"/>
              <p:nvPr/>
            </p:nvSpPr>
            <p:spPr>
              <a:xfrm>
                <a:off x="5399748" y="1516215"/>
                <a:ext cx="1319706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Latin Modern Math" panose="02000503000000000000" pitchFamily="2" charset="77"/>
                          <a:ea typeface="Latin Modern Math" panose="02000503000000000000" pitchFamily="2" charset="77"/>
                        </a:rPr>
                        <m:t>𝜎</m:t>
                      </m:r>
                    </m:oMath>
                  </m:oMathPara>
                </a14:m>
                <a:endParaRPr lang="en-US" sz="3200" dirty="0">
                  <a:latin typeface="Latin Modern Math" panose="02000503000000000000" pitchFamily="2" charset="77"/>
                  <a:ea typeface="Latin Modern Math" panose="02000503000000000000" pitchFamily="2" charset="7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B39BE7-AFEF-CF4F-ABDB-D39FF0C74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748" y="1516215"/>
                <a:ext cx="131970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A224DB98-29EB-CF49-8B24-69225C578C00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1" t="58196" r="22377" b="7222"/>
          <a:stretch/>
        </p:blipFill>
        <p:spPr>
          <a:xfrm>
            <a:off x="869621" y="2116304"/>
            <a:ext cx="7365115" cy="370892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7244A2D-DDB7-6846-9E77-98645A8B2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Parameter Recovery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EBCB37-AADD-CE4B-A259-F60833368C3C}"/>
              </a:ext>
            </a:extLst>
          </p:cNvPr>
          <p:cNvSpPr/>
          <p:nvPr/>
        </p:nvSpPr>
        <p:spPr>
          <a:xfrm>
            <a:off x="1348740" y="2116304"/>
            <a:ext cx="6206490" cy="37545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821FD28D-8B4C-DF49-A5E9-B2CDE274152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0500CF-632E-804F-B329-70FC5BBDBD0C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C07B1979-B046-6E40-A33E-CDF48A3982B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5567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4021"/>
    </mc:Choice>
    <mc:Fallback>
      <p:transition spd="slow" advTm="1140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37C12-A0A6-D54C-AC34-3DD247DA1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290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Implications: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We should expect the two-stage approach to infer low correlations in typical low-data settings, even when the underlying correlation is perfect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>
              <a:solidFill>
                <a:srgbClr val="8F2727"/>
              </a:solidFill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Generative modeling resolves issues with correlation attenuation resulting from measurement error/low reliability by accounting for uncertainty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C1839E-0A0E-A348-A8AA-78FA802B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Parameter Recovery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9CD4CF0F-ED26-C845-84E8-64E32B7BE73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4A54DB-FEB9-B245-8567-6A3D8B91241B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37A8D73-C876-5148-8344-0717A8BC892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2209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014"/>
    </mc:Choice>
    <mc:Fallback>
      <p:transition spd="slow" advTm="360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1EC26CD-2263-5842-B37F-6D55E1A2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59" y="3442893"/>
            <a:ext cx="8622081" cy="994172"/>
          </a:xfrm>
        </p:spPr>
        <p:txBody>
          <a:bodyPr>
            <a:noAutofit/>
          </a:bodyPr>
          <a:lstStyle/>
          <a:p>
            <a:r>
              <a:rPr lang="en-US" sz="5400" b="1" i="1" dirty="0"/>
              <a:t>Does it really matter for real-world data?</a:t>
            </a:r>
            <a:br>
              <a:rPr lang="en-US" sz="5400" b="1" i="1" dirty="0"/>
            </a:br>
            <a:br>
              <a:rPr lang="en-US" sz="5400" b="1" i="1" dirty="0"/>
            </a:br>
            <a:endParaRPr lang="en-US" sz="5400" dirty="0">
              <a:solidFill>
                <a:srgbClr val="8F2727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1F3282-34DE-A341-9EA0-CB45C7200D37}"/>
              </a:ext>
            </a:extLst>
          </p:cNvPr>
          <p:cNvSpPr txBox="1">
            <a:spLocks/>
          </p:cNvSpPr>
          <p:nvPr/>
        </p:nvSpPr>
        <p:spPr>
          <a:xfrm>
            <a:off x="260959" y="5296019"/>
            <a:ext cx="862208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sz="4000" dirty="0">
                <a:solidFill>
                  <a:srgbClr val="8F2727"/>
                </a:solidFill>
              </a:rPr>
              <a:t>Let’s find out </a:t>
            </a:r>
            <a:r>
              <a:rPr lang="en-US" sz="4000" dirty="0">
                <a:solidFill>
                  <a:srgbClr val="8F2727"/>
                </a:solidFill>
                <a:sym typeface="Wingdings" pitchFamily="2" charset="2"/>
              </a:rPr>
              <a:t> </a:t>
            </a:r>
            <a:endParaRPr lang="en-US" sz="4000" dirty="0">
              <a:solidFill>
                <a:srgbClr val="8F2727"/>
              </a:solidFill>
            </a:endParaRP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4E984F14-1080-284F-AF7E-50FB52E99B67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7674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48"/>
    </mc:Choice>
    <mc:Fallback>
      <p:transition spd="slow" advTm="58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FFB3-A5CD-B741-BCE3-9C6235C84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Empirical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37C12-A0A6-D54C-AC34-3DD247DA1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78042" cy="4871852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Included tasks: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Stroop and Flanker task </a:t>
            </a:r>
            <a:endParaRPr lang="en-US" sz="2400" dirty="0">
              <a:solidFill>
                <a:srgbClr val="8F2727"/>
              </a:solidFill>
            </a:endParaRPr>
          </a:p>
          <a:p>
            <a:pPr marL="1314450" lvl="2" indent="-514350">
              <a:buFont typeface="Wingdings" pitchFamily="2" charset="2"/>
              <a:buChar char="Ø"/>
            </a:pPr>
            <a:r>
              <a:rPr lang="en-US" dirty="0"/>
              <a:t>3 weeks; N = (47, 60); T = (240, 240)/condition</a:t>
            </a:r>
            <a:endParaRPr lang="en-US" sz="2800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Posner Cueing task</a:t>
            </a:r>
          </a:p>
          <a:p>
            <a:pPr marL="1314450" lvl="2" indent="-514350">
              <a:buFont typeface="Wingdings" pitchFamily="2" charset="2"/>
              <a:buChar char="Ø"/>
            </a:pPr>
            <a:r>
              <a:rPr lang="en-US" dirty="0"/>
              <a:t>3 weeks; N = 40; T = 640 total (80% congruent)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Implicit Association Test </a:t>
            </a:r>
            <a:r>
              <a:rPr lang="en-US" sz="2400" dirty="0">
                <a:solidFill>
                  <a:srgbClr val="8F2727"/>
                </a:solidFill>
              </a:rPr>
              <a:t>(Self-Concept and Black/White race versions)</a:t>
            </a:r>
            <a:endParaRPr lang="en-US" dirty="0">
              <a:solidFill>
                <a:srgbClr val="8F2727"/>
              </a:solidFill>
            </a:endParaRPr>
          </a:p>
          <a:p>
            <a:pPr marL="1314450" lvl="2" indent="-514350">
              <a:buFont typeface="Wingdings" pitchFamily="2" charset="2"/>
              <a:buChar char="Ø"/>
            </a:pPr>
            <a:r>
              <a:rPr lang="en-US" dirty="0"/>
              <a:t>8 weeks; N = (152, 116); T = (80, 60)/condition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solidFill>
                  <a:srgbClr val="8F2727"/>
                </a:solidFill>
              </a:rPr>
              <a:t>Delay Discounting task </a:t>
            </a:r>
            <a:r>
              <a:rPr lang="en-US" sz="2400" dirty="0">
                <a:solidFill>
                  <a:srgbClr val="8F2727"/>
                </a:solidFill>
              </a:rPr>
              <a:t>(choice preference as opposed to RTs)</a:t>
            </a:r>
            <a:endParaRPr lang="en-US" dirty="0">
              <a:solidFill>
                <a:srgbClr val="8F2727"/>
              </a:solidFill>
            </a:endParaRPr>
          </a:p>
          <a:p>
            <a:pPr marL="1314450" lvl="2" indent="-514350">
              <a:buFont typeface="Wingdings" pitchFamily="2" charset="2"/>
              <a:buChar char="Ø"/>
            </a:pPr>
            <a:r>
              <a:rPr lang="en-US" dirty="0"/>
              <a:t>4 weeks; N = 58; T = 42 total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F253A-1003-5448-AEC5-E40BFC9A45BF}"/>
              </a:ext>
            </a:extLst>
          </p:cNvPr>
          <p:cNvSpPr txBox="1"/>
          <p:nvPr/>
        </p:nvSpPr>
        <p:spPr>
          <a:xfrm>
            <a:off x="62162" y="6396592"/>
            <a:ext cx="5630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Ahn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et al., 2020; Hedge et al., 2017; Gawronski et al., 2016 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3AE67C7-62F8-FB49-906C-67CCE95377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E261E7-14EA-A44D-8B9B-9C5BA3EE73C9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2DB1FD43-D6B0-C647-B237-FD510C7E7EC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1232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404"/>
    </mc:Choice>
    <mc:Fallback>
      <p:transition spd="slow" advTm="224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3.png" descr="A close up of a map&#10;&#10;Description automatically generated">
            <a:extLst>
              <a:ext uri="{FF2B5EF4-FFF2-40B4-BE49-F238E27FC236}">
                <a16:creationId xmlns:a16="http://schemas.microsoft.com/office/drawing/2014/main" id="{14ED9228-2B88-1246-8C83-8B5DAD759B57}"/>
              </a:ext>
            </a:extLst>
          </p:cNvPr>
          <p:cNvPicPr/>
          <p:nvPr/>
        </p:nvPicPr>
        <p:blipFill rotWithShape="1">
          <a:blip r:embed="rId5"/>
          <a:srcRect r="10206" b="50000"/>
          <a:stretch/>
        </p:blipFill>
        <p:spPr>
          <a:xfrm>
            <a:off x="61849" y="1490617"/>
            <a:ext cx="8229599" cy="5228763"/>
          </a:xfrm>
          <a:prstGeom prst="rect">
            <a:avLst/>
          </a:prstGeom>
          <a:ln/>
        </p:spPr>
      </p:pic>
      <p:pic>
        <p:nvPicPr>
          <p:cNvPr id="6" name="image13.png" descr="A close up of a map&#10;&#10;Description automatically generated">
            <a:extLst>
              <a:ext uri="{FF2B5EF4-FFF2-40B4-BE49-F238E27FC236}">
                <a16:creationId xmlns:a16="http://schemas.microsoft.com/office/drawing/2014/main" id="{E5871202-517D-2941-B47D-A38F8EF13026}"/>
              </a:ext>
            </a:extLst>
          </p:cNvPr>
          <p:cNvPicPr/>
          <p:nvPr/>
        </p:nvPicPr>
        <p:blipFill rotWithShape="1">
          <a:blip r:embed="rId5"/>
          <a:srcRect l="89078" t="42741" b="36947"/>
          <a:stretch/>
        </p:blipFill>
        <p:spPr>
          <a:xfrm>
            <a:off x="8027720" y="3429000"/>
            <a:ext cx="1054431" cy="2237453"/>
          </a:xfrm>
          <a:prstGeom prst="rect">
            <a:avLst/>
          </a:prstGeom>
          <a:ln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76102C-2476-2347-A889-E50DE0F362FE}"/>
              </a:ext>
            </a:extLst>
          </p:cNvPr>
          <p:cNvSpPr/>
          <p:nvPr/>
        </p:nvSpPr>
        <p:spPr>
          <a:xfrm>
            <a:off x="4193628" y="2343807"/>
            <a:ext cx="4888523" cy="43755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7B9E7E-1D27-A44F-BC95-CB0057F54F7E}"/>
              </a:ext>
            </a:extLst>
          </p:cNvPr>
          <p:cNvSpPr/>
          <p:nvPr/>
        </p:nvSpPr>
        <p:spPr>
          <a:xfrm>
            <a:off x="4030719" y="2010103"/>
            <a:ext cx="719958" cy="6674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9B37A8-EEA2-7946-BED3-2F10F589E02A}"/>
              </a:ext>
            </a:extLst>
          </p:cNvPr>
          <p:cNvSpPr/>
          <p:nvPr/>
        </p:nvSpPr>
        <p:spPr>
          <a:xfrm>
            <a:off x="386255" y="4567644"/>
            <a:ext cx="4888523" cy="2237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DF53B06-AF54-3E41-A77E-9AACABC4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Empirical Applications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6975E08-B6AC-DC4F-9E4F-67BC7185C8E2}"/>
              </a:ext>
            </a:extLst>
          </p:cNvPr>
          <p:cNvGrpSpPr/>
          <p:nvPr/>
        </p:nvGrpSpPr>
        <p:grpSpPr>
          <a:xfrm>
            <a:off x="842101" y="1283784"/>
            <a:ext cx="7519971" cy="5642428"/>
            <a:chOff x="338786" y="997937"/>
            <a:chExt cx="7315200" cy="548878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9E46D05-DCD5-8C40-8C49-812AFE379422}"/>
                </a:ext>
              </a:extLst>
            </p:cNvPr>
            <p:cNvGrpSpPr/>
            <p:nvPr/>
          </p:nvGrpSpPr>
          <p:grpSpPr>
            <a:xfrm>
              <a:off x="338786" y="997937"/>
              <a:ext cx="7315200" cy="4958402"/>
              <a:chOff x="2384961" y="326571"/>
              <a:chExt cx="7315200" cy="4958402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E012E9F6-989D-8E4C-B87A-0A8653B79D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2535"/>
              <a:stretch/>
            </p:blipFill>
            <p:spPr>
              <a:xfrm>
                <a:off x="2384961" y="326571"/>
                <a:ext cx="7315200" cy="4958402"/>
              </a:xfrm>
              <a:prstGeom prst="rect">
                <a:avLst/>
              </a:prstGeom>
            </p:spPr>
          </p:pic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46103BD0-F774-AD4B-A0FE-63E453272216}"/>
                  </a:ext>
                </a:extLst>
              </p:cNvPr>
              <p:cNvGrpSpPr/>
              <p:nvPr/>
            </p:nvGrpSpPr>
            <p:grpSpPr>
              <a:xfrm>
                <a:off x="2491839" y="1418356"/>
                <a:ext cx="5194646" cy="2793482"/>
                <a:chOff x="2709701" y="1797985"/>
                <a:chExt cx="5194646" cy="279348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2A9AD73B-C559-BB48-B91B-31238F9406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03331" y="1797985"/>
                      <a:ext cx="401016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Latin Modern Math" panose="02000503000000000000" pitchFamily="2" charset="7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Latin Modern Math" panose="02000503000000000000" pitchFamily="2" charset="77"/>
                                    <a:ea typeface="Latin Modern Math" panose="02000503000000000000" pitchFamily="2" charset="77"/>
                                    <a:cs typeface="Arial" panose="020B0604020202020204" pitchFamily="34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Latin Modern Math" panose="02000503000000000000" pitchFamily="2" charset="77"/>
                                    <a:ea typeface="Latin Modern Math" panose="02000503000000000000" pitchFamily="2" charset="77"/>
                                    <a:cs typeface="Arial" panose="020B0604020202020204" pitchFamily="34" charset="0"/>
                                  </a:rPr>
                                  <m:t>Δ</m:t>
                                </m:r>
                                <m:r>
                                  <a:rPr lang="en-US" b="0" i="1" dirty="0" smtClean="0">
                                    <a:latin typeface="Latin Modern Math" panose="02000503000000000000" pitchFamily="2" charset="77"/>
                                    <a:ea typeface="Latin Modern Math" panose="02000503000000000000" pitchFamily="2" charset="77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latin typeface="Latin Modern Math" panose="02000503000000000000" pitchFamily="2" charset="77"/>
                        <a:ea typeface="Latin Modern Math" panose="02000503000000000000" pitchFamily="2" charset="77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2A9AD73B-C559-BB48-B91B-31238F9406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03331" y="1797985"/>
                      <a:ext cx="401016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1212" b="-1290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07769F84-2C48-A043-B2DF-228E3F6FE3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16680" y="4222135"/>
                      <a:ext cx="430519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Latin Modern Math" panose="02000503000000000000" pitchFamily="2" charset="77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Latin Modern Math" panose="02000503000000000000" pitchFamily="2" charset="77"/>
                                    <a:ea typeface="Latin Modern Math" panose="02000503000000000000" pitchFamily="2" charset="77"/>
                                    <a:cs typeface="Arial" panose="020B0604020202020204" pitchFamily="34" charset="0"/>
                                  </a:rPr>
                                  <m:t>  </m:t>
                                </m:r>
                                <m:r>
                                  <a:rPr lang="en-US" b="0" i="1" dirty="0" smtClean="0">
                                    <a:latin typeface="Latin Modern Math" panose="02000503000000000000" pitchFamily="2" charset="77"/>
                                    <a:ea typeface="Latin Modern Math" panose="02000503000000000000" pitchFamily="2" charset="77"/>
                                    <a:cs typeface="Arial" panose="020B0604020202020204" pitchFamily="34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Latin Modern Math" panose="02000503000000000000" pitchFamily="2" charset="77"/>
                                    <a:ea typeface="Latin Modern Math" panose="02000503000000000000" pitchFamily="2" charset="77"/>
                                    <a:cs typeface="Arial" panose="020B0604020202020204" pitchFamily="34" charset="0"/>
                                  </a:rPr>
                                  <m:t>Δ</m:t>
                                </m:r>
                                <m:r>
                                  <a:rPr lang="en-US" b="0" i="1" dirty="0" smtClean="0">
                                    <a:latin typeface="Latin Modern Math" panose="02000503000000000000" pitchFamily="2" charset="77"/>
                                    <a:ea typeface="Latin Modern Math" panose="02000503000000000000" pitchFamily="2" charset="77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latin typeface="Latin Modern Math" panose="02000503000000000000" pitchFamily="2" charset="77"/>
                        <a:ea typeface="Latin Modern Math" panose="02000503000000000000" pitchFamily="2" charset="77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07769F84-2C48-A043-B2DF-228E3F6FE30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16680" y="4222135"/>
                      <a:ext cx="430519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8889" r="-11111" b="-1290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DE27CD76-B78B-0F4F-B092-5046639F3FA9}"/>
                    </a:ext>
                  </a:extLst>
                </p:cNvPr>
                <p:cNvSpPr txBox="1"/>
                <p:nvPr/>
              </p:nvSpPr>
              <p:spPr>
                <a:xfrm rot="16200000">
                  <a:off x="2398674" y="3066465"/>
                  <a:ext cx="99138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ea typeface="Cambria Math" panose="02040503050406030204" pitchFamily="18" charset="0"/>
                      <a:cs typeface="Arial" panose="020B0604020202020204" pitchFamily="34" charset="0"/>
                    </a:rPr>
                    <a:t>Dataset</a:t>
                  </a:r>
                </a:p>
              </p:txBody>
            </p:sp>
          </p:grp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7CFD523-B1B4-AA40-913E-465206853E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90579" r="30626"/>
            <a:stretch/>
          </p:blipFill>
          <p:spPr>
            <a:xfrm>
              <a:off x="338786" y="5883716"/>
              <a:ext cx="5074878" cy="603005"/>
            </a:xfrm>
            <a:prstGeom prst="rect">
              <a:avLst/>
            </a:prstGeom>
          </p:spPr>
        </p:pic>
      </p:grpSp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51AB2BEC-E2C3-0F4B-ABE4-D67F83B6058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9C532EE-869F-D34B-977E-736063A52725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6FB67171-C37A-8C4C-A1B2-902CECB46F9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5279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977"/>
    </mc:Choice>
    <mc:Fallback>
      <p:transition spd="slow" advTm="969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animBg="1"/>
      <p:bldP spid="3" grpId="1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1EACAC6-1B58-7E48-B62C-42585B4CA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78042" cy="5528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Generative modeling requires more effort up front, but it pays off!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Requires attention to both scientific and statistical details of model specification</a:t>
            </a:r>
          </a:p>
          <a:p>
            <a:pPr marL="914400" lvl="1" indent="-514350">
              <a:buFont typeface="Wingdings" pitchFamily="2" charset="2"/>
              <a:buChar char="Ø"/>
            </a:pPr>
            <a:r>
              <a:rPr lang="en-US" sz="2000" dirty="0">
                <a:solidFill>
                  <a:srgbClr val="8F2727"/>
                </a:solidFill>
              </a:rPr>
              <a:t>Explication of all data-generating assumptions in the form of a formal, probabilistic model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Steps anyone can take to facilitate: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000" dirty="0">
                <a:solidFill>
                  <a:srgbClr val="8F2727"/>
                </a:solidFill>
              </a:rPr>
              <a:t>Make raw data (trial-level) openly available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000" dirty="0">
                <a:solidFill>
                  <a:srgbClr val="8F2727"/>
                </a:solidFill>
              </a:rPr>
              <a:t>Exercise caution when making inference using summary statistics or two-stage approaches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914400" lvl="1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6CBD8-2860-6D48-B9A2-40F96D33BD8B}"/>
              </a:ext>
            </a:extLst>
          </p:cNvPr>
          <p:cNvSpPr txBox="1"/>
          <p:nvPr/>
        </p:nvSpPr>
        <p:spPr>
          <a:xfrm>
            <a:off x="73592" y="5994972"/>
            <a:ext cx="89561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Ahn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et al, 2017; Farrell &amp; Lewandowsky, 2018; Guest &amp; Martin, 2020; Lee &amp;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Wagenmakers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2013;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Mathys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et al., 2014;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Palestro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et al., 2018; Turner et al., 2019; van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Rooij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&amp; Baggio, 2020; van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Rooij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&amp;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Blokpoel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2020;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Wiecki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et al., 2013; Wilson &amp; Collins, 2019; </a:t>
            </a:r>
          </a:p>
          <a:p>
            <a:pPr marL="0" lvl="2"/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</a:p>
          <a:p>
            <a:pPr marL="0" lvl="2"/>
            <a:endParaRPr lang="en-US" sz="1600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F87008D-DA09-094A-8EE0-310C67FC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General Implications</a:t>
            </a: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32A4F5A6-21F4-E74E-8F3B-17192E7173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5711"/>
          <a:stretch/>
        </p:blipFill>
        <p:spPr>
          <a:xfrm>
            <a:off x="274320" y="92076"/>
            <a:ext cx="772510" cy="6511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D00BC9-A1A7-A341-BF00-E11E90EFFBAC}"/>
              </a:ext>
            </a:extLst>
          </p:cNvPr>
          <p:cNvSpPr txBox="1"/>
          <p:nvPr/>
        </p:nvSpPr>
        <p:spPr>
          <a:xfrm>
            <a:off x="0" y="711094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#psynom21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03BCBBC-78EF-A244-AB7D-9A39C5097A2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1384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463"/>
    </mc:Choice>
    <mc:Fallback>
      <p:transition spd="slow" advTm="56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08410" y="3584097"/>
            <a:ext cx="35012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C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Thanks to mentors </a:t>
            </a:r>
          </a:p>
          <a:p>
            <a:pPr algn="ctr"/>
            <a:r>
              <a:rPr lang="en-US" sz="2800" b="1" i="1" dirty="0">
                <a:solidFill>
                  <a:srgbClr val="C00000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and co-authors!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07D174-7440-E34E-9F49-32A7DA6BDB2B}"/>
              </a:ext>
            </a:extLst>
          </p:cNvPr>
          <p:cNvGrpSpPr/>
          <p:nvPr/>
        </p:nvGrpSpPr>
        <p:grpSpPr>
          <a:xfrm>
            <a:off x="239721" y="3765556"/>
            <a:ext cx="1393048" cy="1486282"/>
            <a:chOff x="3304309" y="4049798"/>
            <a:chExt cx="2092210" cy="2232239"/>
          </a:xfrm>
        </p:grpSpPr>
        <p:pic>
          <p:nvPicPr>
            <p:cNvPr id="3" name="Picture 2" descr="A close up of a logo&#10;&#10;Description automatically generated">
              <a:extLst>
                <a:ext uri="{FF2B5EF4-FFF2-40B4-BE49-F238E27FC236}">
                  <a16:creationId xmlns:a16="http://schemas.microsoft.com/office/drawing/2014/main" id="{7715880A-ECBE-D94E-9DAE-7E422E073B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13607"/>
            <a:stretch/>
          </p:blipFill>
          <p:spPr>
            <a:xfrm>
              <a:off x="3304309" y="4049798"/>
              <a:ext cx="2092210" cy="1807538"/>
            </a:xfrm>
            <a:prstGeom prst="rect">
              <a:avLst/>
            </a:prstGeom>
          </p:spPr>
        </p:pic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DD105972-8C59-214C-8253-3BC1DA78D5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86253" r="55352" b="1061"/>
            <a:stretch/>
          </p:blipFill>
          <p:spPr>
            <a:xfrm>
              <a:off x="3390398" y="5790331"/>
              <a:ext cx="1730589" cy="491706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FB6CD2D-2CB3-EA46-9816-8108AC14A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049" y="708799"/>
            <a:ext cx="3798749" cy="28175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3BD225-71A1-674E-A6B6-209157712288}"/>
              </a:ext>
            </a:extLst>
          </p:cNvPr>
          <p:cNvSpPr txBox="1"/>
          <p:nvPr/>
        </p:nvSpPr>
        <p:spPr>
          <a:xfrm>
            <a:off x="515913" y="152833"/>
            <a:ext cx="3324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Beauchaine</a:t>
            </a:r>
            <a:r>
              <a:rPr lang="en-US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 Lab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E4C924-1857-524E-899A-12FD17FBD91C}"/>
              </a:ext>
            </a:extLst>
          </p:cNvPr>
          <p:cNvGrpSpPr/>
          <p:nvPr/>
        </p:nvGrpSpPr>
        <p:grpSpPr>
          <a:xfrm>
            <a:off x="45352" y="5156181"/>
            <a:ext cx="2173993" cy="1594096"/>
            <a:chOff x="3033063" y="4744794"/>
            <a:chExt cx="2173993" cy="15940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CDC0AA-D7F1-0645-91E2-684949CBC99C}"/>
                </a:ext>
              </a:extLst>
            </p:cNvPr>
            <p:cNvSpPr txBox="1"/>
            <p:nvPr/>
          </p:nvSpPr>
          <p:spPr>
            <a:xfrm>
              <a:off x="3033063" y="4744794"/>
              <a:ext cx="21739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Woo-Young </a:t>
              </a:r>
              <a:r>
                <a:rPr lang="en-US" sz="2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Ahn</a:t>
              </a:r>
              <a:endParaRPr lang="en-US" sz="20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001BD58-80A2-1A47-8E08-EC79DC5F5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29995" y="5158760"/>
              <a:ext cx="1180130" cy="1180130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8C1E90C-2913-5742-962B-103874E427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540" y="530623"/>
            <a:ext cx="4045233" cy="3033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D4807D-12D1-FE48-A763-176499961100}"/>
              </a:ext>
            </a:extLst>
          </p:cNvPr>
          <p:cNvSpPr txBox="1"/>
          <p:nvPr/>
        </p:nvSpPr>
        <p:spPr>
          <a:xfrm>
            <a:off x="5595768" y="-222"/>
            <a:ext cx="2317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Turner Lab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DBE683-B59A-534F-A5D4-833D55E3D0A1}"/>
              </a:ext>
            </a:extLst>
          </p:cNvPr>
          <p:cNvGrpSpPr/>
          <p:nvPr/>
        </p:nvGrpSpPr>
        <p:grpSpPr>
          <a:xfrm>
            <a:off x="2083767" y="4136334"/>
            <a:ext cx="1265090" cy="1851273"/>
            <a:chOff x="5209300" y="4429668"/>
            <a:chExt cx="1265090" cy="185127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B52AFA0-CBCA-F542-AFD1-CB55C521E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14007" y="4827368"/>
              <a:ext cx="1090180" cy="14535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78593F5-409B-3E43-8090-68AFBA1BEA85}"/>
                </a:ext>
              </a:extLst>
            </p:cNvPr>
            <p:cNvSpPr txBox="1"/>
            <p:nvPr/>
          </p:nvSpPr>
          <p:spPr>
            <a:xfrm>
              <a:off x="5209300" y="4429668"/>
              <a:ext cx="12650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Mark Pitt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CA7BA6D-6933-C147-B3E7-CFE7030C99E8}"/>
              </a:ext>
            </a:extLst>
          </p:cNvPr>
          <p:cNvGrpSpPr/>
          <p:nvPr/>
        </p:nvGrpSpPr>
        <p:grpSpPr>
          <a:xfrm>
            <a:off x="3258463" y="4598651"/>
            <a:ext cx="1510350" cy="1799225"/>
            <a:chOff x="5802176" y="4427065"/>
            <a:chExt cx="1510350" cy="179922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D7F0635-44A4-4A42-8B61-0A74EB210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24007" y="4804038"/>
              <a:ext cx="1066689" cy="14222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712BDA-138B-544C-AA96-682F7C3D711B}"/>
                </a:ext>
              </a:extLst>
            </p:cNvPr>
            <p:cNvSpPr txBox="1"/>
            <p:nvPr/>
          </p:nvSpPr>
          <p:spPr>
            <a:xfrm>
              <a:off x="5802176" y="4427065"/>
              <a:ext cx="15103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Jay Myung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FA7146-DF6D-274F-8469-BF77DC0EFFA9}"/>
              </a:ext>
            </a:extLst>
          </p:cNvPr>
          <p:cNvGrpSpPr/>
          <p:nvPr/>
        </p:nvGrpSpPr>
        <p:grpSpPr>
          <a:xfrm>
            <a:off x="4659251" y="5142195"/>
            <a:ext cx="1595309" cy="1550570"/>
            <a:chOff x="5537629" y="4850229"/>
            <a:chExt cx="1595309" cy="155057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FEABB7-A296-924F-ABF1-A6DACA4B52C6}"/>
                </a:ext>
              </a:extLst>
            </p:cNvPr>
            <p:cNvSpPr txBox="1"/>
            <p:nvPr/>
          </p:nvSpPr>
          <p:spPr>
            <a:xfrm>
              <a:off x="5537629" y="4850229"/>
              <a:ext cx="15953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Peter </a:t>
              </a:r>
              <a:r>
                <a:rPr lang="en-US" sz="2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Kvam</a:t>
              </a:r>
              <a:endParaRPr lang="en-US" sz="20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40151C2-CC47-C347-B2A1-10CC168FF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37428" y="5240242"/>
              <a:ext cx="1403900" cy="11605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2635B72-4C81-FD4F-9818-6FC9C521B061}"/>
              </a:ext>
            </a:extLst>
          </p:cNvPr>
          <p:cNvGrpSpPr/>
          <p:nvPr/>
        </p:nvGrpSpPr>
        <p:grpSpPr>
          <a:xfrm>
            <a:off x="7505107" y="3649053"/>
            <a:ext cx="1608133" cy="1549670"/>
            <a:chOff x="6591152" y="3726785"/>
            <a:chExt cx="1608133" cy="154967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33AAFEA-6760-DE4C-9154-1E1A7C8752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7866" r="19361"/>
            <a:stretch/>
          </p:blipFill>
          <p:spPr>
            <a:xfrm>
              <a:off x="6840281" y="4115898"/>
              <a:ext cx="1097052" cy="11605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5C7D33-CB48-C545-BA70-D3891FB43488}"/>
                </a:ext>
              </a:extLst>
            </p:cNvPr>
            <p:cNvSpPr txBox="1"/>
            <p:nvPr/>
          </p:nvSpPr>
          <p:spPr>
            <a:xfrm>
              <a:off x="6591152" y="3726785"/>
              <a:ext cx="16081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Colin Smith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CFCA9F7-FD0E-1147-85D7-C422F190EA0E}"/>
              </a:ext>
            </a:extLst>
          </p:cNvPr>
          <p:cNvGrpSpPr/>
          <p:nvPr/>
        </p:nvGrpSpPr>
        <p:grpSpPr>
          <a:xfrm>
            <a:off x="7443011" y="5263335"/>
            <a:ext cx="1636987" cy="1355741"/>
            <a:chOff x="7194497" y="5309508"/>
            <a:chExt cx="1636987" cy="13557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5DFD00-0044-CE4F-9C75-A031BDB75D87}"/>
                </a:ext>
              </a:extLst>
            </p:cNvPr>
            <p:cNvSpPr txBox="1"/>
            <p:nvPr/>
          </p:nvSpPr>
          <p:spPr>
            <a:xfrm>
              <a:off x="7194497" y="5309508"/>
              <a:ext cx="1636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Louis Irving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29BC18F-CA14-C944-8C97-E6AC3716A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462689" y="5686936"/>
              <a:ext cx="1100602" cy="9783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5C9D0D-4848-114B-8F3E-7434194B90F0}"/>
              </a:ext>
            </a:extLst>
          </p:cNvPr>
          <p:cNvGrpSpPr/>
          <p:nvPr/>
        </p:nvGrpSpPr>
        <p:grpSpPr>
          <a:xfrm>
            <a:off x="5542939" y="4488210"/>
            <a:ext cx="2251257" cy="2012006"/>
            <a:chOff x="5551917" y="4441557"/>
            <a:chExt cx="2251257" cy="201200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BE86B2C-B78C-DF45-B2D9-97A78BFE9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312044" y="4827963"/>
              <a:ext cx="1016000" cy="16256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D772EE1-EECA-0A40-BAB0-FC6723F60491}"/>
                </a:ext>
              </a:extLst>
            </p:cNvPr>
            <p:cNvSpPr txBox="1"/>
            <p:nvPr/>
          </p:nvSpPr>
          <p:spPr>
            <a:xfrm>
              <a:off x="5551917" y="4441557"/>
              <a:ext cx="22512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Trisha Van Zandt</a:t>
              </a:r>
            </a:p>
          </p:txBody>
        </p:sp>
      </p:grp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6843FD69-F9EC-C140-A67C-529BDB179E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64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165"/>
    </mc:Choice>
    <mc:Fallback>
      <p:transition spd="slow" advTm="241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23BD225-71A1-674E-A6B6-209157712288}"/>
              </a:ext>
            </a:extLst>
          </p:cNvPr>
          <p:cNvSpPr txBox="1"/>
          <p:nvPr/>
        </p:nvSpPr>
        <p:spPr>
          <a:xfrm>
            <a:off x="1856343" y="1634757"/>
            <a:ext cx="1095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Blog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D4807D-12D1-FE48-A763-176499961100}"/>
              </a:ext>
            </a:extLst>
          </p:cNvPr>
          <p:cNvSpPr txBox="1"/>
          <p:nvPr/>
        </p:nvSpPr>
        <p:spPr>
          <a:xfrm>
            <a:off x="5969844" y="1634756"/>
            <a:ext cx="1324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Paper</a:t>
            </a:r>
          </a:p>
        </p:txBody>
      </p:sp>
      <p:pic>
        <p:nvPicPr>
          <p:cNvPr id="6" name="Picture 5" descr="Qr code&#10;&#10;Description automatically generated">
            <a:extLst>
              <a:ext uri="{FF2B5EF4-FFF2-40B4-BE49-F238E27FC236}">
                <a16:creationId xmlns:a16="http://schemas.microsoft.com/office/drawing/2014/main" id="{54A8428A-6AF9-4549-95FF-6DD40917A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83" y="2410689"/>
            <a:ext cx="3248891" cy="3248891"/>
          </a:xfrm>
          <a:prstGeom prst="rect">
            <a:avLst/>
          </a:prstGeom>
        </p:spPr>
      </p:pic>
      <p:pic>
        <p:nvPicPr>
          <p:cNvPr id="35" name="Picture 34" descr="Qr code&#10;&#10;Description automatically generated">
            <a:extLst>
              <a:ext uri="{FF2B5EF4-FFF2-40B4-BE49-F238E27FC236}">
                <a16:creationId xmlns:a16="http://schemas.microsoft.com/office/drawing/2014/main" id="{5B076E7B-3728-EE4B-B5A2-909EED43E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344" y="2410689"/>
            <a:ext cx="3248890" cy="324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09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44C93F1-4ED3-F448-9F77-13DAABDA5E00}"/>
              </a:ext>
            </a:extLst>
          </p:cNvPr>
          <p:cNvSpPr txBox="1"/>
          <p:nvPr/>
        </p:nvSpPr>
        <p:spPr>
          <a:xfrm>
            <a:off x="5387546" y="1732280"/>
            <a:ext cx="3544945" cy="1645920"/>
          </a:xfrm>
          <a:prstGeom prst="rect">
            <a:avLst/>
          </a:prstGeom>
          <a:solidFill>
            <a:schemeClr val="bg1"/>
          </a:solidFill>
          <a:ln w="28575">
            <a:solidFill>
              <a:srgbClr val="8F272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B5C9B-8BC1-474A-8C88-A4F0EDB82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320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Normal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Lognormal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Shifted Lognormal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E3808-3BC7-E34E-BEF1-CDABA1A26C39}"/>
              </a:ext>
            </a:extLst>
          </p:cNvPr>
          <p:cNvPicPr/>
          <p:nvPr/>
        </p:nvPicPr>
        <p:blipFill rotWithShape="1">
          <a:blip r:embed="rId2"/>
          <a:srcRect t="-9791" r="49896" b="1"/>
          <a:stretch/>
        </p:blipFill>
        <p:spPr>
          <a:xfrm>
            <a:off x="1186253" y="2335429"/>
            <a:ext cx="3763256" cy="3970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543B44-8445-CF44-9CBC-DE38DA17DDCB}"/>
              </a:ext>
            </a:extLst>
          </p:cNvPr>
          <p:cNvPicPr/>
          <p:nvPr/>
        </p:nvPicPr>
        <p:blipFill rotWithShape="1">
          <a:blip r:embed="rId3"/>
          <a:srcRect r="40394"/>
          <a:stretch/>
        </p:blipFill>
        <p:spPr>
          <a:xfrm>
            <a:off x="1186252" y="4175469"/>
            <a:ext cx="4825139" cy="361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081DE-40A3-4F46-AFFA-C42E4A94C5FA}"/>
              </a:ext>
            </a:extLst>
          </p:cNvPr>
          <p:cNvPicPr/>
          <p:nvPr/>
        </p:nvPicPr>
        <p:blipFill rotWithShape="1">
          <a:blip r:embed="rId4"/>
          <a:srcRect r="27174"/>
          <a:stretch/>
        </p:blipFill>
        <p:spPr>
          <a:xfrm>
            <a:off x="1186253" y="5895982"/>
            <a:ext cx="6543523" cy="361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433749-C998-784F-B61C-C5E0901834C9}"/>
                  </a:ext>
                </a:extLst>
              </p:cNvPr>
              <p:cNvSpPr txBox="1"/>
              <p:nvPr/>
            </p:nvSpPr>
            <p:spPr>
              <a:xfrm>
                <a:off x="5420968" y="1774361"/>
                <a:ext cx="35449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𝑖</m:t>
                    </m:r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 </m:t>
                    </m:r>
                  </m:oMath>
                </a14:m>
                <a:r>
                  <a:rPr lang="en-US" sz="28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1,2,…,Participant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433749-C998-784F-B61C-C5E090183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968" y="1774361"/>
                <a:ext cx="3544945" cy="523220"/>
              </a:xfrm>
              <a:prstGeom prst="rect">
                <a:avLst/>
              </a:prstGeom>
              <a:blipFill>
                <a:blip r:embed="rId5"/>
                <a:stretch>
                  <a:fillRect l="-714" t="-11905" r="-2500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B6B026-E8D3-0C4C-B398-1A806233BE9B}"/>
                  </a:ext>
                </a:extLst>
              </p:cNvPr>
              <p:cNvSpPr txBox="1"/>
              <p:nvPr/>
            </p:nvSpPr>
            <p:spPr>
              <a:xfrm>
                <a:off x="5387546" y="2246069"/>
                <a:ext cx="32515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 </m:t>
                    </m:r>
                  </m:oMath>
                </a14:m>
                <a:r>
                  <a:rPr lang="en-US" sz="28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1,2 (Condition)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B6B026-E8D3-0C4C-B398-1A806233B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546" y="2246069"/>
                <a:ext cx="3251596" cy="523220"/>
              </a:xfrm>
              <a:prstGeom prst="rect">
                <a:avLst/>
              </a:prstGeom>
              <a:blipFill>
                <a:blip r:embed="rId6"/>
                <a:stretch>
                  <a:fillRect t="-11905" r="-2724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DC3EBD-5462-3340-9C1A-08118E6F687C}"/>
                  </a:ext>
                </a:extLst>
              </p:cNvPr>
              <p:cNvSpPr txBox="1"/>
              <p:nvPr/>
            </p:nvSpPr>
            <p:spPr>
              <a:xfrm>
                <a:off x="5412260" y="2751520"/>
                <a:ext cx="280833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𝑡</m:t>
                    </m:r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 </m:t>
                    </m:r>
                  </m:oMath>
                </a14:m>
                <a:r>
                  <a:rPr lang="en-US" sz="28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1,2 (Session)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DC3EBD-5462-3340-9C1A-08118E6F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260" y="2751520"/>
                <a:ext cx="2808333" cy="523220"/>
              </a:xfrm>
              <a:prstGeom prst="rect">
                <a:avLst/>
              </a:prstGeom>
              <a:blipFill>
                <a:blip r:embed="rId7"/>
                <a:stretch>
                  <a:fillRect l="-450" t="-11905" r="-2703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DE627D65-81E3-1C47-A67B-2C5C119A823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3633C40-72C5-E64E-B7AF-B63CE033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Breaking Down Inference</a:t>
            </a:r>
          </a:p>
        </p:txBody>
      </p:sp>
    </p:spTree>
    <p:extLst>
      <p:ext uri="{BB962C8B-B14F-4D97-AF65-F5344CB8AC3E}">
        <p14:creationId xmlns:p14="http://schemas.microsoft.com/office/powerpoint/2010/main" val="69993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93D388-DF3A-1C47-846C-8623EF5C3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2390"/>
            <a:ext cx="7315200" cy="5486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331F8-07E1-1A45-B5B4-40F0FFE66527}"/>
              </a:ext>
            </a:extLst>
          </p:cNvPr>
          <p:cNvSpPr/>
          <p:nvPr/>
        </p:nvSpPr>
        <p:spPr>
          <a:xfrm>
            <a:off x="4572000" y="1376074"/>
            <a:ext cx="3813464" cy="25516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ECD9BB-CBC4-CE49-9405-EE9330F1897A}"/>
              </a:ext>
            </a:extLst>
          </p:cNvPr>
          <p:cNvSpPr/>
          <p:nvPr/>
        </p:nvSpPr>
        <p:spPr>
          <a:xfrm>
            <a:off x="758535" y="4021447"/>
            <a:ext cx="7315199" cy="25516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BF0010-7B6E-2442-AB68-EA29E03D997F}"/>
              </a:ext>
            </a:extLst>
          </p:cNvPr>
          <p:cNvPicPr/>
          <p:nvPr/>
        </p:nvPicPr>
        <p:blipFill rotWithShape="1">
          <a:blip r:embed="rId3"/>
          <a:srcRect r="40394"/>
          <a:stretch/>
        </p:blipFill>
        <p:spPr>
          <a:xfrm>
            <a:off x="2370816" y="4986644"/>
            <a:ext cx="4825139" cy="3616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C4EC694-5FD8-2A41-A35B-14237B6E718B}"/>
              </a:ext>
            </a:extLst>
          </p:cNvPr>
          <p:cNvSpPr/>
          <p:nvPr/>
        </p:nvSpPr>
        <p:spPr>
          <a:xfrm>
            <a:off x="5476009" y="4965862"/>
            <a:ext cx="810491" cy="458192"/>
          </a:xfrm>
          <a:prstGeom prst="rect">
            <a:avLst/>
          </a:prstGeom>
          <a:noFill/>
          <a:ln w="19050">
            <a:solidFill>
              <a:srgbClr val="8F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FC90B9FD-C901-754A-8F02-691A7114833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A40C6CF-5520-7346-ABAF-B6D15F9C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Breaking Down Inference</a:t>
            </a:r>
          </a:p>
        </p:txBody>
      </p:sp>
    </p:spTree>
    <p:extLst>
      <p:ext uri="{BB962C8B-B14F-4D97-AF65-F5344CB8AC3E}">
        <p14:creationId xmlns:p14="http://schemas.microsoft.com/office/powerpoint/2010/main" val="286717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59259E-6 L 0.08871 0.00023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4" grpId="0" animBg="1"/>
      <p:bldP spid="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close up of a logo&#10;&#10;Description automatically generated">
            <a:extLst>
              <a:ext uri="{FF2B5EF4-FFF2-40B4-BE49-F238E27FC236}">
                <a16:creationId xmlns:a16="http://schemas.microsoft.com/office/drawing/2014/main" id="{867C905A-7981-384B-84EE-C55B22D327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4D31D30E-F05B-5847-A4F6-B4ECE48E0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Breaking Down Inference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E01C600-38FA-1A42-82DA-BC6B94793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Is </a:t>
            </a:r>
            <a:r>
              <a:rPr lang="en-US" dirty="0" err="1"/>
              <a:t>atheoretical</a:t>
            </a:r>
            <a:r>
              <a:rPr lang="en-US" dirty="0"/>
              <a:t> use of summary statistics really </a:t>
            </a:r>
            <a:r>
              <a:rPr lang="en-US" i="1" dirty="0"/>
              <a:t>that</a:t>
            </a:r>
            <a:r>
              <a:rPr lang="en-US" dirty="0"/>
              <a:t> bad?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Detecting process-level differences underlying observed behavior</a:t>
            </a:r>
          </a:p>
          <a:p>
            <a:pPr marL="971550" lvl="1" indent="-514350">
              <a:buFont typeface="+mj-lt"/>
              <a:buAutoNum type="arabicPeriod"/>
            </a:pPr>
            <a:endParaRPr lang="en-US" sz="800" dirty="0">
              <a:solidFill>
                <a:srgbClr val="C0000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Comparing accuracy of eye-witness detection between sequential versus simultaneous line-ups</a:t>
            </a:r>
          </a:p>
          <a:p>
            <a:pPr marL="971550" lvl="1" indent="-514350">
              <a:buFont typeface="+mj-lt"/>
              <a:buAutoNum type="arabicPeriod"/>
            </a:pPr>
            <a:endParaRPr lang="en-US" sz="800" dirty="0">
              <a:solidFill>
                <a:srgbClr val="C00000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Benchmarking methods used to estimate racial biases in police shootings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3C255C-791A-0049-919A-DE155832D2B3}"/>
              </a:ext>
            </a:extLst>
          </p:cNvPr>
          <p:cNvSpPr txBox="1"/>
          <p:nvPr/>
        </p:nvSpPr>
        <p:spPr>
          <a:xfrm>
            <a:off x="386255" y="6213583"/>
            <a:ext cx="7881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Haines et al., 2018; 2020; Heathcote et al., 1991; Kellen, 2019; Romeu-Kelly et al., 2019; Ross et al., 2020; </a:t>
            </a:r>
            <a:r>
              <a:rPr lang="en-US" sz="1600" i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Rotello</a:t>
            </a: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et al., 2014 </a:t>
            </a:r>
          </a:p>
          <a:p>
            <a:pPr marL="0" lvl="2"/>
            <a:endParaRPr lang="en-US" sz="1600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88312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B5C9B-8BC1-474A-8C88-A4F0EDB82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7752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“Baseline” condition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sz="1100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“Change” condition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1600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Putting everything together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3E56A6-A38D-8E4B-B4AD-3D1380224E9B}"/>
              </a:ext>
            </a:extLst>
          </p:cNvPr>
          <p:cNvPicPr/>
          <p:nvPr/>
        </p:nvPicPr>
        <p:blipFill rotWithShape="1">
          <a:blip r:embed="rId2"/>
          <a:srcRect r="37401" b="-32897"/>
          <a:stretch/>
        </p:blipFill>
        <p:spPr>
          <a:xfrm>
            <a:off x="1050895" y="1890162"/>
            <a:ext cx="3335416" cy="7416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4DCCE8-277C-2F45-BC56-EA6CDAD5C208}"/>
              </a:ext>
            </a:extLst>
          </p:cNvPr>
          <p:cNvPicPr/>
          <p:nvPr/>
        </p:nvPicPr>
        <p:blipFill rotWithShape="1">
          <a:blip r:embed="rId3"/>
          <a:srcRect r="29871"/>
          <a:stretch/>
        </p:blipFill>
        <p:spPr>
          <a:xfrm>
            <a:off x="1050895" y="3298896"/>
            <a:ext cx="3938669" cy="11340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A9FE4D-09B2-6248-A48A-DBB8E28803E4}"/>
              </a:ext>
            </a:extLst>
          </p:cNvPr>
          <p:cNvPicPr/>
          <p:nvPr/>
        </p:nvPicPr>
        <p:blipFill rotWithShape="1">
          <a:blip r:embed="rId4"/>
          <a:srcRect r="29241"/>
          <a:stretch/>
        </p:blipFill>
        <p:spPr>
          <a:xfrm>
            <a:off x="1050895" y="5172793"/>
            <a:ext cx="3986779" cy="14040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E9E79E-EBE7-B445-9677-90B128CD131F}"/>
              </a:ext>
            </a:extLst>
          </p:cNvPr>
          <p:cNvSpPr txBox="1"/>
          <p:nvPr/>
        </p:nvSpPr>
        <p:spPr>
          <a:xfrm>
            <a:off x="5387546" y="1732280"/>
            <a:ext cx="3544945" cy="1645920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77855C-0E2D-E641-9E4D-CB678E37AE64}"/>
                  </a:ext>
                </a:extLst>
              </p:cNvPr>
              <p:cNvSpPr txBox="1"/>
              <p:nvPr/>
            </p:nvSpPr>
            <p:spPr>
              <a:xfrm>
                <a:off x="5420968" y="1774361"/>
                <a:ext cx="354494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𝑖</m:t>
                    </m:r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 </m:t>
                    </m:r>
                  </m:oMath>
                </a14:m>
                <a:r>
                  <a:rPr lang="en-US" sz="28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1,2,…,Participant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77855C-0E2D-E641-9E4D-CB678E37A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968" y="1774361"/>
                <a:ext cx="3544945" cy="523220"/>
              </a:xfrm>
              <a:prstGeom prst="rect">
                <a:avLst/>
              </a:prstGeom>
              <a:blipFill>
                <a:blip r:embed="rId5"/>
                <a:stretch>
                  <a:fillRect l="-714" t="-11905" r="-2500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F00B65-D685-BA44-AA05-3244BB35F5C7}"/>
                  </a:ext>
                </a:extLst>
              </p:cNvPr>
              <p:cNvSpPr txBox="1"/>
              <p:nvPr/>
            </p:nvSpPr>
            <p:spPr>
              <a:xfrm>
                <a:off x="5387546" y="2246069"/>
                <a:ext cx="32515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𝑐</m:t>
                    </m:r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 </m:t>
                    </m:r>
                  </m:oMath>
                </a14:m>
                <a:r>
                  <a:rPr lang="en-US" sz="28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1,2 (Condition)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F00B65-D685-BA44-AA05-3244BB35F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546" y="2246069"/>
                <a:ext cx="3251596" cy="523220"/>
              </a:xfrm>
              <a:prstGeom prst="rect">
                <a:avLst/>
              </a:prstGeom>
              <a:blipFill>
                <a:blip r:embed="rId6"/>
                <a:stretch>
                  <a:fillRect t="-11905" r="-2724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9C5B67-C610-1045-8F0E-880E1C3492FA}"/>
                  </a:ext>
                </a:extLst>
              </p:cNvPr>
              <p:cNvSpPr txBox="1"/>
              <p:nvPr/>
            </p:nvSpPr>
            <p:spPr>
              <a:xfrm>
                <a:off x="5412260" y="2751520"/>
                <a:ext cx="280833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𝑡</m:t>
                    </m:r>
                    <m:r>
                      <a:rPr lang="en-US" sz="2800" b="0" i="1" smtClean="0">
                        <a:latin typeface="Latin Modern Math" panose="02000503000000000000" pitchFamily="2" charset="77"/>
                        <a:ea typeface="Latin Modern Math" panose="02000503000000000000" pitchFamily="2" charset="77"/>
                      </a:rPr>
                      <m:t>= </m:t>
                    </m:r>
                  </m:oMath>
                </a14:m>
                <a:r>
                  <a:rPr lang="en-US" sz="2800" dirty="0">
                    <a:latin typeface="Latin Modern Math" panose="02000503000000000000" pitchFamily="2" charset="77"/>
                    <a:ea typeface="Latin Modern Math" panose="02000503000000000000" pitchFamily="2" charset="77"/>
                  </a:rPr>
                  <a:t>1,2 (Session)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9C5B67-C610-1045-8F0E-880E1C349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260" y="2751520"/>
                <a:ext cx="2808333" cy="523220"/>
              </a:xfrm>
              <a:prstGeom prst="rect">
                <a:avLst/>
              </a:prstGeom>
              <a:blipFill>
                <a:blip r:embed="rId7"/>
                <a:stretch>
                  <a:fillRect l="-450" t="-11905" r="-2703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63334051-F98E-FA41-9F9D-F513525121C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BE4DE854-E2EB-034C-95BA-CED5A722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Breaking Down Inference</a:t>
            </a:r>
          </a:p>
        </p:txBody>
      </p:sp>
    </p:spTree>
    <p:extLst>
      <p:ext uri="{BB962C8B-B14F-4D97-AF65-F5344CB8AC3E}">
        <p14:creationId xmlns:p14="http://schemas.microsoft.com/office/powerpoint/2010/main" val="184465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71390C-02A4-764E-BCC0-770B54E04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/>
              <a:t>Hierarchical pooling </a:t>
            </a:r>
            <a:r>
              <a:rPr lang="en-US" sz="2800"/>
              <a:t>(aka </a:t>
            </a:r>
            <a:r>
              <a:rPr lang="en-US" sz="2800" i="1"/>
              <a:t>regularization, shrinkage, regression to the mean</a:t>
            </a:r>
            <a:r>
              <a:rPr lang="en-US" sz="2800"/>
              <a:t>)</a:t>
            </a:r>
            <a:r>
              <a:rPr lang="en-US"/>
              <a:t> in action: </a:t>
            </a:r>
            <a:endParaRPr lang="en-US" dirty="0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5A9241BE-78F8-8541-B60F-9A467EFEB5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488" t="54127" b="37012"/>
          <a:stretch/>
        </p:blipFill>
        <p:spPr>
          <a:xfrm>
            <a:off x="7502981" y="4967654"/>
            <a:ext cx="1465687" cy="96249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18C0B35-2A8D-2C46-8AD7-B74F831C79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29" t="9139" r="13591" b="61038"/>
          <a:stretch/>
        </p:blipFill>
        <p:spPr>
          <a:xfrm>
            <a:off x="175332" y="3361808"/>
            <a:ext cx="7335436" cy="3162069"/>
          </a:xfrm>
          <a:prstGeom prst="rect">
            <a:avLst/>
          </a:prstGeom>
        </p:spPr>
      </p:pic>
      <p:pic>
        <p:nvPicPr>
          <p:cNvPr id="39" name="Picture 38" descr="A close up of a map&#10;&#10;Description automatically generated">
            <a:extLst>
              <a:ext uri="{FF2B5EF4-FFF2-40B4-BE49-F238E27FC236}">
                <a16:creationId xmlns:a16="http://schemas.microsoft.com/office/drawing/2014/main" id="{72FFE883-6BAF-224B-9981-59DBA44EE8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488" t="41183" b="49117"/>
          <a:stretch/>
        </p:blipFill>
        <p:spPr>
          <a:xfrm>
            <a:off x="7502981" y="3859304"/>
            <a:ext cx="1465686" cy="105369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326AB9A-40C3-754C-B379-CD74DC7F18A7}"/>
              </a:ext>
            </a:extLst>
          </p:cNvPr>
          <p:cNvSpPr txBox="1"/>
          <p:nvPr/>
        </p:nvSpPr>
        <p:spPr>
          <a:xfrm>
            <a:off x="3211608" y="2894625"/>
            <a:ext cx="2371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Stroop Study 1</a:t>
            </a: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4B7279F-5600-BC4E-9291-48F491B389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711"/>
          <a:stretch/>
        </p:blipFill>
        <p:spPr>
          <a:xfrm>
            <a:off x="0" y="92076"/>
            <a:ext cx="772510" cy="65113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1BE20B5-B368-9D4E-9C25-A3874415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i="1" dirty="0"/>
              <a:t>Empirical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8130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9|14|22.4|13.5|2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20.3|28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2|3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32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9|53.8|66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5.8|5|31.6|46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26.7|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1|6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5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0.3|0.3|0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|18.8|25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6.7|1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26158</TotalTime>
  <Words>1062</Words>
  <Application>Microsoft Macintosh PowerPoint</Application>
  <PresentationFormat>On-screen Show (4:3)</PresentationFormat>
  <Paragraphs>158</Paragraphs>
  <Slides>25</Slides>
  <Notes>0</Notes>
  <HiddenSlides>0</HiddenSlides>
  <MMClips>19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Gill Sans MT</vt:lpstr>
      <vt:lpstr>Latin Modern Math</vt:lpstr>
      <vt:lpstr>Wingdings</vt:lpstr>
      <vt:lpstr>Office Theme</vt:lpstr>
      <vt:lpstr>PowerPoint Presentation</vt:lpstr>
      <vt:lpstr>Outline</vt:lpstr>
      <vt:lpstr>Prologue</vt:lpstr>
      <vt:lpstr>Prologue</vt:lpstr>
      <vt:lpstr>The Reliability Paradox</vt:lpstr>
      <vt:lpstr>The Reliability Paradox</vt:lpstr>
      <vt:lpstr>If behavioral and neural measures perform poorly, should we not use them for individual difference research?  </vt:lpstr>
      <vt:lpstr>Breaking Down Inference</vt:lpstr>
      <vt:lpstr>How does generative modeling resolve issues associated with the two-stage approach?  </vt:lpstr>
      <vt:lpstr>Breaking Down Inference</vt:lpstr>
      <vt:lpstr>How big of a difference should it actually make?  </vt:lpstr>
      <vt:lpstr>Parameter Recovery</vt:lpstr>
      <vt:lpstr>Parameter Recovery</vt:lpstr>
      <vt:lpstr>Parameter Recovery</vt:lpstr>
      <vt:lpstr>Does it really matter for real-world data?  </vt:lpstr>
      <vt:lpstr>Empirical Applications</vt:lpstr>
      <vt:lpstr>Empirical Applications</vt:lpstr>
      <vt:lpstr>General Implications</vt:lpstr>
      <vt:lpstr>PowerPoint Presentation</vt:lpstr>
      <vt:lpstr>PowerPoint Presentation</vt:lpstr>
      <vt:lpstr>Breaking Down Inference</vt:lpstr>
      <vt:lpstr>Breaking Down Inference</vt:lpstr>
      <vt:lpstr>Breaking Down Inference</vt:lpstr>
      <vt:lpstr>Breaking Down Inference</vt:lpstr>
      <vt:lpstr>Empirical Applications</vt:lpstr>
    </vt:vector>
  </TitlesOfParts>
  <Company>VTCRI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Woo-Young Ahn</dc:creator>
  <cp:lastModifiedBy>Haines, Nathaniel B.</cp:lastModifiedBy>
  <cp:revision>1203</cp:revision>
  <cp:lastPrinted>2015-09-24T18:21:01Z</cp:lastPrinted>
  <dcterms:created xsi:type="dcterms:W3CDTF">2015-03-10T20:41:13Z</dcterms:created>
  <dcterms:modified xsi:type="dcterms:W3CDTF">2021-10-16T03:20:10Z</dcterms:modified>
</cp:coreProperties>
</file>